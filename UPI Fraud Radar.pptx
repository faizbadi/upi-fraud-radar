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243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2888" y="285750"/>
            <a:ext cx="5429250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4" dirty="0">
                <a:solidFill>
                  <a:srgbClr val="0FA3B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RESEARCH  PROJECT · SEMESTER 7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242888" y="550069"/>
            <a:ext cx="5429250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73600"/>
              </a:lnSpc>
              <a:buNone/>
            </a:pPr>
            <a:r>
              <a:rPr lang="en-US" sz="3300" b="1" kern="0" spc="-2" dirty="0">
                <a:solidFill>
                  <a:srgbClr val="19324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UPI FRAUD
</a:t>
            </a:r>
            <a:r>
              <a:rPr lang="en-US" sz="3300" b="1" kern="0" spc="-2" dirty="0">
                <a:solidFill>
                  <a:srgbClr val="0FA3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RADAR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242888" y="1519833"/>
            <a:ext cx="4143375" cy="347142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5570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Anomaly detection and behavioural pattern mining using integrated machine learning pipelines.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242888" y="2066999"/>
            <a:ext cx="44291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2" dirty="0">
                <a:solidFill>
                  <a:srgbClr val="7890A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PROJECT GROUP MEMBERS</a:t>
            </a:r>
            <a:endParaRPr lang="en-US" sz="600" dirty="0"/>
          </a:p>
        </p:txBody>
      </p:sp>
      <p:sp>
        <p:nvSpPr>
          <p:cNvPr id="7" name="Shape 4"/>
          <p:cNvSpPr/>
          <p:nvPr/>
        </p:nvSpPr>
        <p:spPr>
          <a:xfrm>
            <a:off x="242888" y="2263453"/>
            <a:ext cx="4429125" cy="1271588"/>
          </a:xfrm>
          <a:prstGeom prst="rect">
            <a:avLst/>
          </a:prstGeom>
          <a:solidFill>
            <a:srgbClr val="FFFFFF">
              <a:alpha val="75000"/>
            </a:srgbClr>
          </a:solidFill>
          <a:ln w="18288">
            <a:solidFill>
              <a:srgbClr val="19324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42888" y="2263453"/>
            <a:ext cx="1800951" cy="264319"/>
          </a:xfrm>
          <a:prstGeom prst="rect">
            <a:avLst/>
          </a:prstGeom>
          <a:solidFill>
            <a:srgbClr val="19324D"/>
          </a:solidFill>
          <a:ln/>
        </p:spPr>
      </p:sp>
      <p:sp>
        <p:nvSpPr>
          <p:cNvPr id="9" name="Text 6"/>
          <p:cNvSpPr/>
          <p:nvPr/>
        </p:nvSpPr>
        <p:spPr>
          <a:xfrm>
            <a:off x="242888" y="2263453"/>
            <a:ext cx="1800951" cy="264319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DF8EE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FULL NAME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2043838" y="2263453"/>
            <a:ext cx="1692399" cy="264319"/>
          </a:xfrm>
          <a:prstGeom prst="rect">
            <a:avLst/>
          </a:prstGeom>
          <a:solidFill>
            <a:srgbClr val="19324D"/>
          </a:solidFill>
          <a:ln/>
        </p:spPr>
      </p:sp>
      <p:sp>
        <p:nvSpPr>
          <p:cNvPr id="11" name="Text 8"/>
          <p:cNvSpPr/>
          <p:nvPr/>
        </p:nvSpPr>
        <p:spPr>
          <a:xfrm>
            <a:off x="2043838" y="2263453"/>
            <a:ext cx="1692399" cy="264319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DF8EE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ENROLLMENT NO.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3736237" y="2263453"/>
            <a:ext cx="935775" cy="264319"/>
          </a:xfrm>
          <a:prstGeom prst="rect">
            <a:avLst/>
          </a:prstGeom>
          <a:solidFill>
            <a:srgbClr val="19324D"/>
          </a:solidFill>
          <a:ln/>
        </p:spPr>
      </p:sp>
      <p:sp>
        <p:nvSpPr>
          <p:cNvPr id="13" name="Text 10"/>
          <p:cNvSpPr/>
          <p:nvPr/>
        </p:nvSpPr>
        <p:spPr>
          <a:xfrm>
            <a:off x="3736237" y="2263453"/>
            <a:ext cx="935775" cy="264319"/>
          </a:xfrm>
          <a:prstGeom prst="rect">
            <a:avLst/>
          </a:prstGeom>
          <a:noFill/>
          <a:ln/>
        </p:spPr>
        <p:txBody>
          <a:bodyPr wrap="none" lIns="119126" tIns="85090" rIns="119126" bIns="85090" rtlCol="0" anchor="ctr">
            <a:spAutoFit/>
          </a:bodyPr>
          <a:lstStyle/>
          <a:p>
            <a:pPr marL="0" indent="0" algn="l">
              <a:buNone/>
            </a:pPr>
            <a:r>
              <a:rPr lang="en-US" sz="650" b="1" kern="0" spc="1" dirty="0">
                <a:solidFill>
                  <a:srgbClr val="FDF8EE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ROLL NO.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242888" y="2527771"/>
            <a:ext cx="1800951" cy="325041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Jiya Chhatbar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043838" y="2527771"/>
            <a:ext cx="1692399" cy="325041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23004500210041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736237" y="2527771"/>
            <a:ext cx="935775" cy="325041"/>
          </a:xfrm>
          <a:prstGeom prst="rect">
            <a:avLst/>
          </a:prstGeom>
          <a:noFill/>
          <a:ln/>
        </p:spPr>
        <p:txBody>
          <a:bodyPr wrap="none" lIns="119126" tIns="102108" rIns="119126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E-27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42888" y="2852812"/>
            <a:ext cx="1800951" cy="328613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Darshana Rangoliya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043838" y="2852812"/>
            <a:ext cx="1692399" cy="328613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23004500210049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736237" y="2852812"/>
            <a:ext cx="935775" cy="328613"/>
          </a:xfrm>
          <a:prstGeom prst="rect">
            <a:avLst/>
          </a:prstGeom>
          <a:noFill/>
          <a:ln/>
        </p:spPr>
        <p:txBody>
          <a:bodyPr wrap="none" lIns="119126" tIns="102108" rIns="119126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D-06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42888" y="3181424"/>
            <a:ext cx="1800951" cy="325041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Faiz Badi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043838" y="3181424"/>
            <a:ext cx="1692399" cy="325041"/>
          </a:xfrm>
          <a:prstGeom prst="rect">
            <a:avLst/>
          </a:prstGeom>
          <a:noFill/>
          <a:ln/>
        </p:spPr>
        <p:txBody>
          <a:bodyPr wrap="square" lIns="119126" tIns="102108" rIns="119126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23004500210015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736237" y="3181424"/>
            <a:ext cx="935775" cy="325041"/>
          </a:xfrm>
          <a:prstGeom prst="rect">
            <a:avLst/>
          </a:prstGeom>
          <a:noFill/>
          <a:ln/>
        </p:spPr>
        <p:txBody>
          <a:bodyPr wrap="none" lIns="119126" tIns="102108" rIns="119126" bIns="1021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B-05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42888" y="3663628"/>
            <a:ext cx="4429125" cy="10716"/>
          </a:xfrm>
          <a:prstGeom prst="rect">
            <a:avLst/>
          </a:prstGeom>
          <a:solidFill>
            <a:srgbClr val="DDE6ED"/>
          </a:solidFill>
          <a:ln/>
        </p:spPr>
      </p:sp>
      <p:sp>
        <p:nvSpPr>
          <p:cNvPr id="25" name="Text 22"/>
          <p:cNvSpPr/>
          <p:nvPr/>
        </p:nvSpPr>
        <p:spPr>
          <a:xfrm>
            <a:off x="242888" y="4325340"/>
            <a:ext cx="202168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L.J. School of Computer Application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42888" y="4472498"/>
            <a:ext cx="2021681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7890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 the Guidance of Prof. Swati D. Londhe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5857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971550"/>
            <a:ext cx="8286750" cy="42863"/>
          </a:xfrm>
          <a:prstGeom prst="rect">
            <a:avLst/>
          </a:prstGeom>
          <a:solidFill>
            <a:srgbClr val="19324D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62150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56000"/>
              </a:lnSpc>
              <a:buNone/>
            </a:pPr>
            <a:r>
              <a:rPr lang="en-US" sz="4400" dirty="0">
                <a:solidFill>
                  <a:srgbClr val="DDEAF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221581" y="442913"/>
            <a:ext cx="6347222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9324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1. INTRODUCTION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568803" y="678656"/>
            <a:ext cx="114657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095A7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PROJECT OVERVIEW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71513" y="1400175"/>
            <a:ext cx="260746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3" dirty="0">
                <a:solidFill>
                  <a:srgbClr val="0FA3B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1.1 ABSTRACT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71513" y="1721644"/>
            <a:ext cx="2607469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06B84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UPI Fraud Radar</a:t>
            </a:r>
            <a:r>
              <a:rPr lang="en-US" sz="1150" dirty="0">
                <a:solidFill>
                  <a:srgbClr val="506B8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a comprehensive Machine Learning pipeline designed to secure real-time digital payments. It translates high-velocity transaction streams into actionable fraud probabilities, risky user segments, and interpretable behavioural rules.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864769" y="1400175"/>
            <a:ext cx="213240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3" dirty="0">
                <a:solidFill>
                  <a:srgbClr val="0FA3B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1.2 PROJECT PROFILE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864769" y="1721644"/>
            <a:ext cx="2132409" cy="624297"/>
          </a:xfrm>
          <a:prstGeom prst="rect">
            <a:avLst/>
          </a:prstGeom>
          <a:noFill/>
          <a:ln/>
        </p:spPr>
        <p:txBody>
          <a:bodyPr wrap="square" lIns="0" tIns="153035" rIns="0" bIns="153035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Domain</a:t>
            </a:r>
            <a:r>
              <a:rPr lang="en-US" sz="950" dirty="0">
                <a:solidFill>
                  <a:srgbClr val="1932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
ML · FinTech · Fraud Analytics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64769" y="2345941"/>
            <a:ext cx="2132409" cy="624297"/>
          </a:xfrm>
          <a:prstGeom prst="rect">
            <a:avLst/>
          </a:prstGeom>
          <a:noFill/>
          <a:ln/>
        </p:spPr>
        <p:txBody>
          <a:bodyPr wrap="square" lIns="0" tIns="153035" rIns="0" bIns="153035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Learning Models</a:t>
            </a:r>
            <a:r>
              <a:rPr lang="en-US" sz="950" dirty="0">
                <a:solidFill>
                  <a:srgbClr val="1932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
Classification, Clustering, Rules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864769" y="2970237"/>
            <a:ext cx="2132409" cy="624297"/>
          </a:xfrm>
          <a:prstGeom prst="rect">
            <a:avLst/>
          </a:prstGeom>
          <a:noFill/>
          <a:ln/>
        </p:spPr>
        <p:txBody>
          <a:bodyPr wrap="square" lIns="0" tIns="153035" rIns="0" bIns="153035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Deployment</a:t>
            </a:r>
            <a:r>
              <a:rPr lang="en-US" sz="950" dirty="0">
                <a:solidFill>
                  <a:srgbClr val="1932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
Interactive Streamlit Dashboard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582966" y="1400175"/>
            <a:ext cx="213240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3" dirty="0">
                <a:solidFill>
                  <a:srgbClr val="E4585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1.3 PROBLEM STATEMENT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82966" y="1721644"/>
            <a:ext cx="2132409" cy="804286"/>
          </a:xfrm>
          <a:prstGeom prst="rect">
            <a:avLst/>
          </a:prstGeom>
          <a:noFill/>
          <a:ln/>
        </p:spPr>
        <p:txBody>
          <a:bodyPr wrap="square" lIns="0" tIns="153035" rIns="0" bIns="153035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Extreme Volume</a:t>
            </a:r>
            <a:r>
              <a:rPr lang="en-US" sz="950" dirty="0">
                <a:solidFill>
                  <a:srgbClr val="1932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
Instant UPI transfers leave zero room for manual verification.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582966" y="2525930"/>
            <a:ext cx="2132409" cy="804286"/>
          </a:xfrm>
          <a:prstGeom prst="rect">
            <a:avLst/>
          </a:prstGeom>
          <a:noFill/>
          <a:ln/>
        </p:spPr>
        <p:txBody>
          <a:bodyPr wrap="square" lIns="0" tIns="153035" rIns="0" bIns="153035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Skewed Data</a:t>
            </a:r>
            <a:r>
              <a:rPr lang="en-US" sz="950" dirty="0">
                <a:solidFill>
                  <a:srgbClr val="1932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
Fraud represents only ~0.13% of transactions.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582966" y="3330215"/>
            <a:ext cx="2132409" cy="804286"/>
          </a:xfrm>
          <a:prstGeom prst="rect">
            <a:avLst/>
          </a:prstGeom>
          <a:noFill/>
          <a:ln/>
        </p:spPr>
        <p:txBody>
          <a:bodyPr wrap="square" lIns="0" tIns="153035" rIns="0" bIns="153035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Tactical Evolution</a:t>
            </a:r>
            <a:r>
              <a:rPr lang="en-US" sz="950" dirty="0">
                <a:solidFill>
                  <a:srgbClr val="1932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
Dynamic fraud patterns require adaptive, explainable ML.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28625" y="4718447"/>
            <a:ext cx="8286750" cy="2107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428625" y="4718447"/>
            <a:ext cx="8286750" cy="14288"/>
          </a:xfrm>
          <a:prstGeom prst="rect">
            <a:avLst/>
          </a:prstGeom>
          <a:solidFill>
            <a:srgbClr val="DDE6ED"/>
          </a:solidFill>
          <a:ln/>
        </p:spPr>
      </p:sp>
      <p:sp>
        <p:nvSpPr>
          <p:cNvPr id="20" name="Text 17"/>
          <p:cNvSpPr/>
          <p:nvPr/>
        </p:nvSpPr>
        <p:spPr>
          <a:xfrm>
            <a:off x="428625" y="4818459"/>
            <a:ext cx="2750344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logic re-authored for clarity based on original documentation.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8458200" y="4818459"/>
            <a:ext cx="25717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/ 12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5857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971550"/>
            <a:ext cx="8286750" cy="42863"/>
          </a:xfrm>
          <a:prstGeom prst="rect">
            <a:avLst/>
          </a:prstGeom>
          <a:solidFill>
            <a:srgbClr val="19324D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70723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56000"/>
              </a:lnSpc>
              <a:buNone/>
            </a:pPr>
            <a:r>
              <a:rPr lang="en-US" sz="4400" dirty="0">
                <a:solidFill>
                  <a:srgbClr val="DDEAF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02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307306" y="464344"/>
            <a:ext cx="6222206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9324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 ORGANIZATION OF DATA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529513" y="678656"/>
            <a:ext cx="11858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095A7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DATA ARCHITECTURE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28625" y="1585913"/>
            <a:ext cx="39147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3" dirty="0">
                <a:solidFill>
                  <a:srgbClr val="0FA3B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2.1 DATA SOURCE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28625" y="1864519"/>
            <a:ext cx="3914775" cy="610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506B8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Utilizes the </a:t>
            </a:r>
            <a:r>
              <a:rPr lang="en-US" sz="950" b="1" dirty="0">
                <a:solidFill>
                  <a:srgbClr val="506B84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PaySim Synthetic Financial Dataset</a:t>
            </a:r>
            <a:r>
              <a:rPr lang="en-US" sz="1000" dirty="0">
                <a:solidFill>
                  <a:srgbClr val="506B8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(Kaggle). Real mobile-money logs are transformed into a UPI-analogue environment via custom behavioral engineering.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00600" y="1585913"/>
            <a:ext cx="39147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3" dirty="0">
                <a:solidFill>
                  <a:srgbClr val="0FA3B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2.4 DATA VOLUME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800600" y="1864519"/>
            <a:ext cx="1228725" cy="696516"/>
          </a:xfrm>
          <a:prstGeom prst="rect">
            <a:avLst/>
          </a:prstGeom>
          <a:solidFill>
            <a:srgbClr val="F0F7F7"/>
          </a:solidFill>
          <a:ln/>
        </p:spPr>
      </p:sp>
      <p:sp>
        <p:nvSpPr>
          <p:cNvPr id="12" name="Shape 9"/>
          <p:cNvSpPr/>
          <p:nvPr/>
        </p:nvSpPr>
        <p:spPr>
          <a:xfrm>
            <a:off x="4800600" y="1864519"/>
            <a:ext cx="35719" cy="696516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3" name="Text 10"/>
          <p:cNvSpPr/>
          <p:nvPr/>
        </p:nvSpPr>
        <p:spPr>
          <a:xfrm>
            <a:off x="4914900" y="1978819"/>
            <a:ext cx="100012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9324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6.36M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914900" y="2336006"/>
            <a:ext cx="100012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7890A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RECORDS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6143625" y="1864519"/>
            <a:ext cx="1228725" cy="696516"/>
          </a:xfrm>
          <a:prstGeom prst="rect">
            <a:avLst/>
          </a:prstGeom>
          <a:solidFill>
            <a:srgbClr val="F0F7F7"/>
          </a:solidFill>
          <a:ln/>
        </p:spPr>
      </p:sp>
      <p:sp>
        <p:nvSpPr>
          <p:cNvPr id="16" name="Shape 13"/>
          <p:cNvSpPr/>
          <p:nvPr/>
        </p:nvSpPr>
        <p:spPr>
          <a:xfrm>
            <a:off x="6143625" y="1864519"/>
            <a:ext cx="35719" cy="696516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7" name="Text 14"/>
          <p:cNvSpPr/>
          <p:nvPr/>
        </p:nvSpPr>
        <p:spPr>
          <a:xfrm>
            <a:off x="6257925" y="1978819"/>
            <a:ext cx="100012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9324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8,213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257925" y="2336006"/>
            <a:ext cx="100012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7890A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FRAUD CASES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7486650" y="1864519"/>
            <a:ext cx="1228725" cy="696516"/>
          </a:xfrm>
          <a:prstGeom prst="rect">
            <a:avLst/>
          </a:prstGeom>
          <a:solidFill>
            <a:srgbClr val="F0F7F7"/>
          </a:solidFill>
          <a:ln/>
        </p:spPr>
      </p:sp>
      <p:sp>
        <p:nvSpPr>
          <p:cNvPr id="20" name="Shape 17"/>
          <p:cNvSpPr/>
          <p:nvPr/>
        </p:nvSpPr>
        <p:spPr>
          <a:xfrm>
            <a:off x="7486650" y="1864519"/>
            <a:ext cx="35719" cy="696516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1" name="Text 18"/>
          <p:cNvSpPr/>
          <p:nvPr/>
        </p:nvSpPr>
        <p:spPr>
          <a:xfrm>
            <a:off x="7600950" y="1978819"/>
            <a:ext cx="100012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9324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743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600950" y="2336006"/>
            <a:ext cx="100012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7890A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HOURLY STEPS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28625" y="3089672"/>
            <a:ext cx="39147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3" dirty="0">
                <a:solidFill>
                  <a:srgbClr val="0FA3B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2.2 DATA CATEGORY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28625" y="3368278"/>
            <a:ext cx="1828800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DDE6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8625" y="3368278"/>
            <a:ext cx="1828800" cy="321469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6647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Structured Transaction CSV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2314575" y="3368278"/>
            <a:ext cx="1603772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DDE6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314575" y="3368278"/>
            <a:ext cx="1603772" cy="321469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6647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Supervised Target Label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28625" y="3746897"/>
            <a:ext cx="1882378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DDE6E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8625" y="3746897"/>
            <a:ext cx="1882378" cy="321469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6647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Behavioural Engineered Data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2368153" y="3746897"/>
            <a:ext cx="1578769" cy="321469"/>
          </a:xfrm>
          <a:prstGeom prst="rect">
            <a:avLst/>
          </a:prstGeom>
          <a:solidFill>
            <a:srgbClr val="FFFFFF"/>
          </a:solidFill>
          <a:ln w="18288">
            <a:solidFill>
              <a:srgbClr val="DDE6ED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368153" y="3746897"/>
            <a:ext cx="1578769" cy="321469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6647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Clustering &amp; Rules Logs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800600" y="3089672"/>
            <a:ext cx="391477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3" dirty="0">
                <a:solidFill>
                  <a:srgbClr val="0FA3B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2.3 DATA DESCRIPTION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800600" y="3368278"/>
            <a:ext cx="3914775" cy="610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506B8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base columns (Type, Amount, Balances, IDs) extended by </a:t>
            </a:r>
            <a:r>
              <a:rPr lang="en-US" sz="950" b="1" dirty="0">
                <a:solidFill>
                  <a:srgbClr val="506B84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hour, night-time, balance-diff, and account-emptied</a:t>
            </a:r>
            <a:r>
              <a:rPr lang="en-US" sz="1000" dirty="0">
                <a:solidFill>
                  <a:srgbClr val="506B8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indicators for improved detection.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28625" y="4718447"/>
            <a:ext cx="8286750" cy="2107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28625" y="4718447"/>
            <a:ext cx="8286750" cy="14288"/>
          </a:xfrm>
          <a:prstGeom prst="rect">
            <a:avLst/>
          </a:prstGeom>
          <a:solidFill>
            <a:srgbClr val="DDE6ED"/>
          </a:solidFill>
          <a:ln/>
        </p:spPr>
      </p:sp>
      <p:sp>
        <p:nvSpPr>
          <p:cNvPr id="36" name="Text 33"/>
          <p:cNvSpPr/>
          <p:nvPr/>
        </p:nvSpPr>
        <p:spPr>
          <a:xfrm>
            <a:off x="428625" y="4818459"/>
            <a:ext cx="2632472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Dataset metrics confirmed from project documentation Section 2.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8458200" y="4818459"/>
            <a:ext cx="25717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/ 12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4338" y="371475"/>
            <a:ext cx="8315325" cy="5000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14338" y="371475"/>
            <a:ext cx="8315325" cy="35719"/>
          </a:xfrm>
          <a:prstGeom prst="rect">
            <a:avLst/>
          </a:prstGeom>
          <a:solidFill>
            <a:srgbClr val="19324D"/>
          </a:solidFill>
          <a:ln/>
        </p:spPr>
      </p:sp>
      <p:sp>
        <p:nvSpPr>
          <p:cNvPr id="5" name="Text 2"/>
          <p:cNvSpPr/>
          <p:nvPr/>
        </p:nvSpPr>
        <p:spPr>
          <a:xfrm>
            <a:off x="414338" y="485775"/>
            <a:ext cx="617934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56000"/>
              </a:lnSpc>
              <a:buNone/>
            </a:pPr>
            <a:r>
              <a:rPr lang="en-US" sz="3850" dirty="0">
                <a:solidFill>
                  <a:srgbClr val="D9E8F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02</a:t>
            </a:r>
            <a:endParaRPr lang="en-US" sz="3850" dirty="0"/>
          </a:p>
        </p:txBody>
      </p:sp>
      <p:sp>
        <p:nvSpPr>
          <p:cNvPr id="6" name="Text 3"/>
          <p:cNvSpPr/>
          <p:nvPr/>
        </p:nvSpPr>
        <p:spPr>
          <a:xfrm>
            <a:off x="1780580" y="485775"/>
            <a:ext cx="5239941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324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 ORGANIZATION OF DATA </a:t>
            </a:r>
            <a:r>
              <a:rPr lang="en-US" sz="1600" b="1" dirty="0">
                <a:solidFill>
                  <a:srgbClr val="8095A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/ SUMMARY + TOOLKIT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68828" y="485775"/>
            <a:ext cx="960834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READY FOR MODELLING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414338" y="1150144"/>
            <a:ext cx="35433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2" dirty="0">
                <a:solidFill>
                  <a:srgbClr val="0FA3B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2.5 DATA SUMMARY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14338" y="1360884"/>
            <a:ext cx="3543300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506B8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dataset is large, labelled, and extremely skewed. Fraud appears only in </a:t>
            </a:r>
            <a:r>
              <a:rPr lang="en-US" sz="900" b="1" dirty="0">
                <a:solidFill>
                  <a:srgbClr val="506B84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TRANSFER</a:t>
            </a:r>
            <a:r>
              <a:rPr lang="en-US" sz="950" dirty="0">
                <a:solidFill>
                  <a:srgbClr val="506B8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lang="en-US" sz="900" b="1" dirty="0">
                <a:solidFill>
                  <a:srgbClr val="506B84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CASH_OUT</a:t>
            </a:r>
            <a:r>
              <a:rPr lang="en-US" sz="950" dirty="0">
                <a:solidFill>
                  <a:srgbClr val="506B8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flows, which makes both feature design and evaluation discipline essential.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14338" y="2377976"/>
            <a:ext cx="17716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7A9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Mean amount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2185988" y="2377976"/>
            <a:ext cx="17716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₹179,861.90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414338" y="2663726"/>
            <a:ext cx="17716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7A9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Median amount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2185988" y="2663726"/>
            <a:ext cx="17716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₹74,871.94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414338" y="2949476"/>
            <a:ext cx="17716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7A9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Maximum amount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2185988" y="2949476"/>
            <a:ext cx="17716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₹92,445,516.64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414338" y="3235226"/>
            <a:ext cx="17716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7A9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Fraud share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2185988" y="3235226"/>
            <a:ext cx="17716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E4585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≈ 0.13%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414338" y="3520976"/>
            <a:ext cx="17716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7A90A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Missing values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2185988" y="3520976"/>
            <a:ext cx="17716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None reported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4300538" y="1150144"/>
            <a:ext cx="442912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2" dirty="0">
                <a:solidFill>
                  <a:srgbClr val="0FA3B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2.6 TOOLS AND TECHNIQUES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4300538" y="1360884"/>
            <a:ext cx="2171700" cy="482203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22" name="Shape 19"/>
          <p:cNvSpPr/>
          <p:nvPr/>
        </p:nvSpPr>
        <p:spPr>
          <a:xfrm>
            <a:off x="4300538" y="1360884"/>
            <a:ext cx="28575" cy="482203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3" name="Text 20"/>
          <p:cNvSpPr/>
          <p:nvPr/>
        </p:nvSpPr>
        <p:spPr>
          <a:xfrm>
            <a:off x="4400550" y="1475184"/>
            <a:ext cx="81081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Python + pandas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4400550" y="1639491"/>
            <a:ext cx="197167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5570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Cleaning, joins, feature tables</a:t>
            </a:r>
            <a:endParaRPr lang="en-US" sz="550" dirty="0"/>
          </a:p>
        </p:txBody>
      </p:sp>
      <p:sp>
        <p:nvSpPr>
          <p:cNvPr id="25" name="Shape 22"/>
          <p:cNvSpPr/>
          <p:nvPr/>
        </p:nvSpPr>
        <p:spPr>
          <a:xfrm>
            <a:off x="6557963" y="1360884"/>
            <a:ext cx="2171700" cy="482203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26" name="Shape 23"/>
          <p:cNvSpPr/>
          <p:nvPr/>
        </p:nvSpPr>
        <p:spPr>
          <a:xfrm>
            <a:off x="6557963" y="1360884"/>
            <a:ext cx="28575" cy="482203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27" name="Text 24"/>
          <p:cNvSpPr/>
          <p:nvPr/>
        </p:nvSpPr>
        <p:spPr>
          <a:xfrm>
            <a:off x="6657975" y="1475184"/>
            <a:ext cx="57150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scikit-learn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657975" y="1639491"/>
            <a:ext cx="197167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5570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Classification + evaluation</a:t>
            </a:r>
            <a:endParaRPr lang="en-US" sz="550" dirty="0"/>
          </a:p>
        </p:txBody>
      </p:sp>
      <p:sp>
        <p:nvSpPr>
          <p:cNvPr id="29" name="Shape 26"/>
          <p:cNvSpPr/>
          <p:nvPr/>
        </p:nvSpPr>
        <p:spPr>
          <a:xfrm>
            <a:off x="4300538" y="1928813"/>
            <a:ext cx="2171700" cy="482203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30" name="Shape 27"/>
          <p:cNvSpPr/>
          <p:nvPr/>
        </p:nvSpPr>
        <p:spPr>
          <a:xfrm>
            <a:off x="4300538" y="1928813"/>
            <a:ext cx="28575" cy="482203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1" name="Text 28"/>
          <p:cNvSpPr/>
          <p:nvPr/>
        </p:nvSpPr>
        <p:spPr>
          <a:xfrm>
            <a:off x="4400550" y="2043113"/>
            <a:ext cx="87153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imbalanced-learn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4400550" y="2207419"/>
            <a:ext cx="197167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5570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SMOTE and class weights</a:t>
            </a:r>
            <a:endParaRPr lang="en-US" sz="550" dirty="0"/>
          </a:p>
        </p:txBody>
      </p:sp>
      <p:sp>
        <p:nvSpPr>
          <p:cNvPr id="33" name="Shape 30"/>
          <p:cNvSpPr/>
          <p:nvPr/>
        </p:nvSpPr>
        <p:spPr>
          <a:xfrm>
            <a:off x="6557963" y="1928813"/>
            <a:ext cx="2171700" cy="482203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34" name="Shape 31"/>
          <p:cNvSpPr/>
          <p:nvPr/>
        </p:nvSpPr>
        <p:spPr>
          <a:xfrm>
            <a:off x="6557963" y="1928813"/>
            <a:ext cx="28575" cy="482203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5" name="Text 32"/>
          <p:cNvSpPr/>
          <p:nvPr/>
        </p:nvSpPr>
        <p:spPr>
          <a:xfrm>
            <a:off x="6657975" y="2043113"/>
            <a:ext cx="40362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mlxtend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6657975" y="2207419"/>
            <a:ext cx="197167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5570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Apriori rule mining</a:t>
            </a:r>
            <a:endParaRPr lang="en-US" sz="550" dirty="0"/>
          </a:p>
        </p:txBody>
      </p:sp>
      <p:sp>
        <p:nvSpPr>
          <p:cNvPr id="37" name="Shape 34"/>
          <p:cNvSpPr/>
          <p:nvPr/>
        </p:nvSpPr>
        <p:spPr>
          <a:xfrm>
            <a:off x="4300538" y="2496741"/>
            <a:ext cx="2171700" cy="482203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38" name="Shape 35"/>
          <p:cNvSpPr/>
          <p:nvPr/>
        </p:nvSpPr>
        <p:spPr>
          <a:xfrm>
            <a:off x="4300538" y="2496741"/>
            <a:ext cx="28575" cy="482203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9" name="Text 36"/>
          <p:cNvSpPr/>
          <p:nvPr/>
        </p:nvSpPr>
        <p:spPr>
          <a:xfrm>
            <a:off x="4400550" y="2611041"/>
            <a:ext cx="49649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Matplotlib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4400550" y="2775347"/>
            <a:ext cx="197167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5570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EDA and diagnostic plots</a:t>
            </a:r>
            <a:endParaRPr lang="en-US" sz="550" dirty="0"/>
          </a:p>
        </p:txBody>
      </p:sp>
      <p:sp>
        <p:nvSpPr>
          <p:cNvPr id="41" name="Shape 38"/>
          <p:cNvSpPr/>
          <p:nvPr/>
        </p:nvSpPr>
        <p:spPr>
          <a:xfrm>
            <a:off x="6557963" y="2496741"/>
            <a:ext cx="2171700" cy="482203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42" name="Shape 39"/>
          <p:cNvSpPr/>
          <p:nvPr/>
        </p:nvSpPr>
        <p:spPr>
          <a:xfrm>
            <a:off x="6557963" y="2496741"/>
            <a:ext cx="28575" cy="482203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43" name="Text 40"/>
          <p:cNvSpPr/>
          <p:nvPr/>
        </p:nvSpPr>
        <p:spPr>
          <a:xfrm>
            <a:off x="6657975" y="2611041"/>
            <a:ext cx="828675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Streamlit + joblib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6657975" y="2775347"/>
            <a:ext cx="197167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5570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deployment</a:t>
            </a:r>
            <a:endParaRPr lang="en-US" sz="550" dirty="0"/>
          </a:p>
        </p:txBody>
      </p:sp>
      <p:sp>
        <p:nvSpPr>
          <p:cNvPr id="45" name="Shape 42"/>
          <p:cNvSpPr/>
          <p:nvPr/>
        </p:nvSpPr>
        <p:spPr>
          <a:xfrm>
            <a:off x="4300538" y="3136106"/>
            <a:ext cx="4429125" cy="358583"/>
          </a:xfrm>
          <a:prstGeom prst="rect">
            <a:avLst/>
          </a:prstGeom>
          <a:solidFill>
            <a:srgbClr val="FFF9EC"/>
          </a:solidFill>
          <a:ln/>
        </p:spPr>
      </p:sp>
      <p:sp>
        <p:nvSpPr>
          <p:cNvPr id="46" name="Shape 43"/>
          <p:cNvSpPr/>
          <p:nvPr/>
        </p:nvSpPr>
        <p:spPr>
          <a:xfrm>
            <a:off x="4300538" y="3136106"/>
            <a:ext cx="28575" cy="358583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47" name="Text 44"/>
          <p:cNvSpPr/>
          <p:nvPr/>
        </p:nvSpPr>
        <p:spPr>
          <a:xfrm>
            <a:off x="4300538" y="3136106"/>
            <a:ext cx="4429125" cy="35858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5F64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 principle: optimize for </a:t>
            </a:r>
            <a:r>
              <a:rPr lang="en-US" sz="650" b="1" dirty="0">
                <a:solidFill>
                  <a:srgbClr val="5F647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Recall, Precision, F1-score, and PR-AUC</a:t>
            </a:r>
            <a:r>
              <a:rPr lang="en-US" sz="650" dirty="0">
                <a:solidFill>
                  <a:srgbClr val="5F64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—not headline accuracy.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14338" y="4822031"/>
            <a:ext cx="8315325" cy="1643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414338" y="4822031"/>
            <a:ext cx="8315325" cy="7144"/>
          </a:xfrm>
          <a:prstGeom prst="rect">
            <a:avLst/>
          </a:prstGeom>
          <a:solidFill>
            <a:srgbClr val="D9E3EA"/>
          </a:solidFill>
          <a:ln/>
        </p:spPr>
      </p:sp>
      <p:sp>
        <p:nvSpPr>
          <p:cNvPr id="50" name="Text 47"/>
          <p:cNvSpPr/>
          <p:nvPr/>
        </p:nvSpPr>
        <p:spPr>
          <a:xfrm>
            <a:off x="414338" y="4893469"/>
            <a:ext cx="2082403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stack reconstructed from the attached documentation.</a:t>
            </a:r>
            <a:endParaRPr lang="en-US" sz="500" dirty="0"/>
          </a:p>
        </p:txBody>
      </p:sp>
      <p:sp>
        <p:nvSpPr>
          <p:cNvPr id="51" name="Text 48"/>
          <p:cNvSpPr/>
          <p:nvPr/>
        </p:nvSpPr>
        <p:spPr>
          <a:xfrm>
            <a:off x="8508206" y="4893469"/>
            <a:ext cx="221456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/ 12</a:t>
            </a:r>
            <a:endParaRPr lang="en-US" sz="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0025" y="200025"/>
            <a:ext cx="8743950" cy="4143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00025" y="571500"/>
            <a:ext cx="8743950" cy="42863"/>
          </a:xfrm>
          <a:prstGeom prst="rect">
            <a:avLst/>
          </a:prstGeom>
          <a:solidFill>
            <a:srgbClr val="19324D"/>
          </a:solidFill>
          <a:ln/>
        </p:spPr>
      </p:sp>
      <p:sp>
        <p:nvSpPr>
          <p:cNvPr id="5" name="Text 2"/>
          <p:cNvSpPr/>
          <p:nvPr/>
        </p:nvSpPr>
        <p:spPr>
          <a:xfrm>
            <a:off x="200025" y="200025"/>
            <a:ext cx="500063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60000"/>
              </a:lnSpc>
              <a:buNone/>
            </a:pPr>
            <a:r>
              <a:rPr lang="en-US" sz="3050" dirty="0">
                <a:solidFill>
                  <a:srgbClr val="DDEAF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03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914400" y="225028"/>
            <a:ext cx="6743700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9324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3. DATA VISUALIZATION </a:t>
            </a:r>
            <a:r>
              <a:rPr lang="en-US" sz="1600" dirty="0">
                <a:solidFill>
                  <a:srgbClr val="8095A7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/ ORIGINAL DATA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43825" y="367903"/>
            <a:ext cx="120015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095A7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EXPLORATORY ANALYSIS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200025" y="814388"/>
            <a:ext cx="270324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b="1" kern="0" spc="2" dirty="0">
                <a:solidFill>
                  <a:srgbClr val="0FA3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3.1 BOX PLOT</a:t>
            </a:r>
            <a:endParaRPr lang="en-US" sz="600" dirty="0"/>
          </a:p>
        </p:txBody>
      </p:sp>
      <p:sp>
        <p:nvSpPr>
          <p:cNvPr id="9" name="Shape 6"/>
          <p:cNvSpPr/>
          <p:nvPr/>
        </p:nvSpPr>
        <p:spPr>
          <a:xfrm>
            <a:off x="300038" y="996553"/>
            <a:ext cx="2503215" cy="1799555"/>
          </a:xfrm>
          <a:prstGeom prst="rect">
            <a:avLst/>
          </a:prstGeom>
          <a:solidFill>
            <a:srgbClr val="FFFFFF"/>
          </a:solidFill>
          <a:ln w="9144">
            <a:solidFill>
              <a:srgbClr val="EEF2F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00025" y="2867546"/>
            <a:ext cx="2703240" cy="252890"/>
          </a:xfrm>
          <a:prstGeom prst="rect">
            <a:avLst/>
          </a:prstGeom>
          <a:noFill/>
          <a:ln/>
        </p:spPr>
        <p:txBody>
          <a:bodyPr wrap="square" lIns="68072" tIns="0" rIns="68072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i="1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Transaction amount by class (Log scale). Fraud cases show significantly higher median and extreme outliers.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017565" y="814388"/>
            <a:ext cx="310881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b="1" kern="0" spc="2" dirty="0">
                <a:solidFill>
                  <a:srgbClr val="0FA3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3.2 HIST PLOT</a:t>
            </a:r>
            <a:endParaRPr lang="en-US" sz="600" dirty="0"/>
          </a:p>
        </p:txBody>
      </p:sp>
      <p:sp>
        <p:nvSpPr>
          <p:cNvPr id="13" name="Shape 9"/>
          <p:cNvSpPr/>
          <p:nvPr/>
        </p:nvSpPr>
        <p:spPr>
          <a:xfrm>
            <a:off x="3117577" y="996553"/>
            <a:ext cx="2908790" cy="1799555"/>
          </a:xfrm>
          <a:prstGeom prst="rect">
            <a:avLst/>
          </a:prstGeom>
          <a:solidFill>
            <a:srgbClr val="FFFFFF"/>
          </a:solidFill>
          <a:ln w="9144">
            <a:solidFill>
              <a:srgbClr val="EEF2F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017565" y="2867546"/>
            <a:ext cx="3108815" cy="252890"/>
          </a:xfrm>
          <a:prstGeom prst="rect">
            <a:avLst/>
          </a:prstGeom>
          <a:noFill/>
          <a:ln/>
        </p:spPr>
        <p:txBody>
          <a:bodyPr wrap="square" lIns="68072" tIns="0" rIns="68072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i="1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Overlapping distributions reveal that high-value segments are disproportionately fraudulent.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6240680" y="814388"/>
            <a:ext cx="270324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b="1" kern="0" spc="2" dirty="0">
                <a:solidFill>
                  <a:srgbClr val="0FA3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3.3 LINE PLOT</a:t>
            </a:r>
            <a:endParaRPr lang="en-US" sz="600" dirty="0"/>
          </a:p>
        </p:txBody>
      </p:sp>
      <p:sp>
        <p:nvSpPr>
          <p:cNvPr id="19" name="Text 13"/>
          <p:cNvSpPr/>
          <p:nvPr/>
        </p:nvSpPr>
        <p:spPr>
          <a:xfrm>
            <a:off x="6240680" y="2867546"/>
            <a:ext cx="2703240" cy="252890"/>
          </a:xfrm>
          <a:prstGeom prst="rect">
            <a:avLst/>
          </a:prstGeom>
          <a:noFill/>
          <a:ln/>
        </p:spPr>
        <p:txBody>
          <a:bodyPr wrap="square" lIns="68072" tIns="0" rIns="68072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i="1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Transaction volume by hour (Step mod 24). Activity peaks during business hours and falls late night.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200025" y="3915537"/>
            <a:ext cx="8743950" cy="355402"/>
          </a:xfrm>
          <a:prstGeom prst="rect">
            <a:avLst/>
          </a:prstGeom>
          <a:solidFill>
            <a:srgbClr val="FFF9EC"/>
          </a:solidFill>
          <a:ln/>
        </p:spPr>
      </p:sp>
      <p:sp>
        <p:nvSpPr>
          <p:cNvPr id="21" name="Shape 15"/>
          <p:cNvSpPr/>
          <p:nvPr/>
        </p:nvSpPr>
        <p:spPr>
          <a:xfrm>
            <a:off x="200025" y="3927729"/>
            <a:ext cx="42863" cy="35540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22" name="Text 16"/>
          <p:cNvSpPr/>
          <p:nvPr/>
        </p:nvSpPr>
        <p:spPr>
          <a:xfrm>
            <a:off x="200025" y="3891153"/>
            <a:ext cx="8743950" cy="355402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750" b="1" dirty="0">
                <a:solidFill>
                  <a:srgbClr val="66798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Insights from Evidence:</a:t>
            </a:r>
            <a:r>
              <a:rPr lang="en-US" sz="800" dirty="0">
                <a:solidFill>
                  <a:srgbClr val="66798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Amount distributions and temporal patterns are primary discriminators for detecting anomalous digital payment behaviour.</a:t>
            </a:r>
            <a:endParaRPr lang="en-US" sz="750" dirty="0"/>
          </a:p>
        </p:txBody>
      </p:sp>
      <p:sp>
        <p:nvSpPr>
          <p:cNvPr id="23" name="Shape 17"/>
          <p:cNvSpPr/>
          <p:nvPr/>
        </p:nvSpPr>
        <p:spPr>
          <a:xfrm>
            <a:off x="200025" y="4818459"/>
            <a:ext cx="8743950" cy="1821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18"/>
          <p:cNvSpPr/>
          <p:nvPr/>
        </p:nvSpPr>
        <p:spPr>
          <a:xfrm>
            <a:off x="200025" y="4818459"/>
            <a:ext cx="8743950" cy="14288"/>
          </a:xfrm>
          <a:prstGeom prst="rect">
            <a:avLst/>
          </a:prstGeom>
          <a:solidFill>
            <a:srgbClr val="DDE6ED"/>
          </a:solidFill>
          <a:ln/>
        </p:spPr>
      </p:sp>
      <p:sp>
        <p:nvSpPr>
          <p:cNvPr id="26" name="Text 20"/>
          <p:cNvSpPr/>
          <p:nvPr/>
        </p:nvSpPr>
        <p:spPr>
          <a:xfrm>
            <a:off x="8683228" y="4889897"/>
            <a:ext cx="26074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/ 12</a:t>
            </a:r>
            <a:endParaRPr lang="en-US" sz="6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6429D8D-E17F-EB01-F124-CC8D03FA9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940" y="994659"/>
            <a:ext cx="2564980" cy="179955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B590A47-BC9C-23C5-E36C-E616E9BC3B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577" y="996553"/>
            <a:ext cx="2908790" cy="1797661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C00BB294-69E7-4103-FEE8-AFDFAA0B24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039" y="998332"/>
            <a:ext cx="2503214" cy="17958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4338" y="371475"/>
            <a:ext cx="8315325" cy="5000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14338" y="371475"/>
            <a:ext cx="8315325" cy="35719"/>
          </a:xfrm>
          <a:prstGeom prst="rect">
            <a:avLst/>
          </a:prstGeom>
          <a:solidFill>
            <a:srgbClr val="19324D"/>
          </a:solidFill>
          <a:ln/>
        </p:spPr>
      </p:sp>
      <p:sp>
        <p:nvSpPr>
          <p:cNvPr id="5" name="Text 2"/>
          <p:cNvSpPr/>
          <p:nvPr/>
        </p:nvSpPr>
        <p:spPr>
          <a:xfrm>
            <a:off x="414338" y="485775"/>
            <a:ext cx="639366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56000"/>
              </a:lnSpc>
              <a:buNone/>
            </a:pPr>
            <a:r>
              <a:rPr lang="en-US" sz="3850" dirty="0">
                <a:solidFill>
                  <a:srgbClr val="D9E8F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04</a:t>
            </a:r>
            <a:endParaRPr lang="en-US" sz="3850" dirty="0"/>
          </a:p>
        </p:txBody>
      </p:sp>
      <p:sp>
        <p:nvSpPr>
          <p:cNvPr id="6" name="Text 3"/>
          <p:cNvSpPr/>
          <p:nvPr/>
        </p:nvSpPr>
        <p:spPr>
          <a:xfrm>
            <a:off x="3512939" y="485775"/>
            <a:ext cx="1932384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324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4. DATA CLEANING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04559" y="485775"/>
            <a:ext cx="82510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MODEL-READY DATA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414338" y="1150144"/>
            <a:ext cx="397906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2" dirty="0">
                <a:solidFill>
                  <a:srgbClr val="0FA3B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4.1 DATA SUMMARY · WHAT CHANGED</a:t>
            </a:r>
            <a:endParaRPr lang="en-US" sz="600" dirty="0"/>
          </a:p>
        </p:txBody>
      </p:sp>
      <p:sp>
        <p:nvSpPr>
          <p:cNvPr id="9" name="Shape 6"/>
          <p:cNvSpPr/>
          <p:nvPr/>
        </p:nvSpPr>
        <p:spPr>
          <a:xfrm>
            <a:off x="414338" y="1460897"/>
            <a:ext cx="200025" cy="200025"/>
          </a:xfrm>
          <a:prstGeom prst="ellipse">
            <a:avLst/>
          </a:prstGeom>
          <a:solidFill>
            <a:srgbClr val="D9F4F3"/>
          </a:solidFill>
          <a:ln/>
        </p:spPr>
      </p:sp>
      <p:sp>
        <p:nvSpPr>
          <p:cNvPr id="10" name="Text 7"/>
          <p:cNvSpPr/>
          <p:nvPr/>
        </p:nvSpPr>
        <p:spPr>
          <a:xfrm>
            <a:off x="414338" y="146089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B7E8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01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714375" y="1475184"/>
            <a:ext cx="400050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Validate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714375" y="1632347"/>
            <a:ext cx="3103959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Check types, duplicates, and missing values. PaySim reports no missing values.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414338" y="1959508"/>
            <a:ext cx="200025" cy="200025"/>
          </a:xfrm>
          <a:prstGeom prst="ellipse">
            <a:avLst/>
          </a:prstGeom>
          <a:solidFill>
            <a:srgbClr val="D9F4F3"/>
          </a:solidFill>
          <a:ln/>
        </p:spPr>
      </p:sp>
      <p:sp>
        <p:nvSpPr>
          <p:cNvPr id="14" name="Text 11"/>
          <p:cNvSpPr/>
          <p:nvPr/>
        </p:nvSpPr>
        <p:spPr>
          <a:xfrm>
            <a:off x="414338" y="195950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B7E8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02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714375" y="1973796"/>
            <a:ext cx="130373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Keep meaningful extremes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714375" y="2130958"/>
            <a:ext cx="34004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Outliers in amount are retained because extreme value is itself a possible fraud signal.</a:t>
            </a:r>
            <a:endParaRPr lang="en-US" sz="600" dirty="0"/>
          </a:p>
        </p:txBody>
      </p:sp>
      <p:sp>
        <p:nvSpPr>
          <p:cNvPr id="17" name="Shape 14"/>
          <p:cNvSpPr/>
          <p:nvPr/>
        </p:nvSpPr>
        <p:spPr>
          <a:xfrm>
            <a:off x="414338" y="2458120"/>
            <a:ext cx="200025" cy="200025"/>
          </a:xfrm>
          <a:prstGeom prst="ellipse">
            <a:avLst/>
          </a:prstGeom>
          <a:solidFill>
            <a:srgbClr val="D9F4F3"/>
          </a:solidFill>
          <a:ln/>
        </p:spPr>
      </p:sp>
      <p:sp>
        <p:nvSpPr>
          <p:cNvPr id="18" name="Text 15"/>
          <p:cNvSpPr/>
          <p:nvPr/>
        </p:nvSpPr>
        <p:spPr>
          <a:xfrm>
            <a:off x="414338" y="245812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B7E8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03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714375" y="2472407"/>
            <a:ext cx="657225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Reduce noise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714375" y="2629570"/>
            <a:ext cx="308610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 high-cardinality nameOrig/nameDest; one-hot encode transaction type.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414338" y="2956731"/>
            <a:ext cx="200025" cy="200025"/>
          </a:xfrm>
          <a:prstGeom prst="ellipse">
            <a:avLst/>
          </a:prstGeom>
          <a:solidFill>
            <a:srgbClr val="D9F4F3"/>
          </a:solidFill>
          <a:ln/>
        </p:spPr>
      </p:sp>
      <p:sp>
        <p:nvSpPr>
          <p:cNvPr id="22" name="Text 19"/>
          <p:cNvSpPr/>
          <p:nvPr/>
        </p:nvSpPr>
        <p:spPr>
          <a:xfrm>
            <a:off x="414338" y="2956731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B7E8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04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714375" y="2971019"/>
            <a:ext cx="942975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Engineer behaviour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714375" y="3128181"/>
            <a:ext cx="265033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hour, isNight, sender/receiver balance difference, and origEmptied.</a:t>
            </a:r>
            <a:endParaRPr lang="en-US" sz="600" dirty="0"/>
          </a:p>
        </p:txBody>
      </p:sp>
      <p:sp>
        <p:nvSpPr>
          <p:cNvPr id="25" name="Shape 22"/>
          <p:cNvSpPr/>
          <p:nvPr/>
        </p:nvSpPr>
        <p:spPr>
          <a:xfrm>
            <a:off x="414338" y="3455343"/>
            <a:ext cx="200025" cy="200025"/>
          </a:xfrm>
          <a:prstGeom prst="ellipse">
            <a:avLst/>
          </a:prstGeom>
          <a:solidFill>
            <a:srgbClr val="D9F4F3"/>
          </a:solidFill>
          <a:ln/>
        </p:spPr>
      </p:sp>
      <p:sp>
        <p:nvSpPr>
          <p:cNvPr id="26" name="Text 23"/>
          <p:cNvSpPr/>
          <p:nvPr/>
        </p:nvSpPr>
        <p:spPr>
          <a:xfrm>
            <a:off x="414338" y="345534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0B7E8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05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714375" y="3469630"/>
            <a:ext cx="771525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Prevent leakage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714375" y="3626793"/>
            <a:ext cx="2586038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Fit scaling, feature selection, and SMOTE only on the training split.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4750594" y="1150144"/>
            <a:ext cx="397906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kern="0" spc="2" dirty="0">
                <a:solidFill>
                  <a:srgbClr val="0FA3B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QUALITY CHECKPOINT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4750594" y="1468041"/>
            <a:ext cx="238740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7890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Null records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7138002" y="1468041"/>
            <a:ext cx="159166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0B8B7B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0 reported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4750594" y="1796653"/>
            <a:ext cx="238740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7890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Split strategy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7138002" y="1796653"/>
            <a:ext cx="159166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80 : 20 stratified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4750594" y="2125266"/>
            <a:ext cx="238740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7890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Imbalance handling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7138002" y="2125266"/>
            <a:ext cx="159166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SMOTE + class weights</a:t>
            </a:r>
            <a:endParaRPr lang="en-US" sz="650" dirty="0"/>
          </a:p>
        </p:txBody>
      </p:sp>
      <p:sp>
        <p:nvSpPr>
          <p:cNvPr id="36" name="Text 33"/>
          <p:cNvSpPr/>
          <p:nvPr/>
        </p:nvSpPr>
        <p:spPr>
          <a:xfrm>
            <a:off x="4750594" y="2453878"/>
            <a:ext cx="238740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7890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 selection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7138002" y="2453878"/>
            <a:ext cx="159166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SelectKBest + RF importance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4750594" y="2782491"/>
            <a:ext cx="238740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dirty="0">
                <a:solidFill>
                  <a:srgbClr val="7890A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Fraud ratio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7138002" y="2782491"/>
            <a:ext cx="159166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E4585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Preserved realistically</a:t>
            </a:r>
            <a:endParaRPr lang="en-US" sz="650" dirty="0"/>
          </a:p>
        </p:txBody>
      </p:sp>
      <p:sp>
        <p:nvSpPr>
          <p:cNvPr id="40" name="Shape 37"/>
          <p:cNvSpPr/>
          <p:nvPr/>
        </p:nvSpPr>
        <p:spPr>
          <a:xfrm>
            <a:off x="4750594" y="3196828"/>
            <a:ext cx="3979069" cy="526405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41" name="Shape 38"/>
          <p:cNvSpPr/>
          <p:nvPr/>
        </p:nvSpPr>
        <p:spPr>
          <a:xfrm>
            <a:off x="4750594" y="3196828"/>
            <a:ext cx="28575" cy="526405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42" name="Text 39"/>
          <p:cNvSpPr/>
          <p:nvPr/>
        </p:nvSpPr>
        <p:spPr>
          <a:xfrm>
            <a:off x="4750594" y="3196828"/>
            <a:ext cx="3979069" cy="526405"/>
          </a:xfrm>
          <a:prstGeom prst="rect">
            <a:avLst/>
          </a:prstGeom>
          <a:noFill/>
          <a:ln/>
        </p:spPr>
        <p:txBody>
          <a:bodyPr wrap="square" lIns="153035" tIns="153035" rIns="153035" bIns="153035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50" dirty="0">
                <a:solidFill>
                  <a:srgbClr val="42677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result is not a “cleaned-away” fraud problem. The pipeline preserves rare-event structure while making the variables learnable.</a:t>
            </a:r>
            <a:endParaRPr lang="en-US" sz="650" dirty="0"/>
          </a:p>
        </p:txBody>
      </p:sp>
      <p:sp>
        <p:nvSpPr>
          <p:cNvPr id="43" name="Shape 40"/>
          <p:cNvSpPr/>
          <p:nvPr/>
        </p:nvSpPr>
        <p:spPr>
          <a:xfrm>
            <a:off x="414338" y="4822031"/>
            <a:ext cx="8315325" cy="1643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414338" y="4822031"/>
            <a:ext cx="8315325" cy="7144"/>
          </a:xfrm>
          <a:prstGeom prst="rect">
            <a:avLst/>
          </a:prstGeom>
          <a:solidFill>
            <a:srgbClr val="D9E3EA"/>
          </a:solidFill>
          <a:ln/>
        </p:spPr>
      </p:sp>
      <p:sp>
        <p:nvSpPr>
          <p:cNvPr id="45" name="Text 42"/>
          <p:cNvSpPr/>
          <p:nvPr/>
        </p:nvSpPr>
        <p:spPr>
          <a:xfrm>
            <a:off x="414338" y="4893469"/>
            <a:ext cx="2650331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Cleaning decisions reconstructed from Sections 4 and 2.6 of the documentation.</a:t>
            </a:r>
            <a:endParaRPr lang="en-US" sz="500" dirty="0"/>
          </a:p>
        </p:txBody>
      </p:sp>
      <p:sp>
        <p:nvSpPr>
          <p:cNvPr id="46" name="Text 43"/>
          <p:cNvSpPr/>
          <p:nvPr/>
        </p:nvSpPr>
        <p:spPr>
          <a:xfrm>
            <a:off x="8504634" y="4893469"/>
            <a:ext cx="225028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/ 12</a:t>
            </a:r>
            <a:endParaRPr lang="en-US" sz="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" y="13062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57200"/>
            <a:ext cx="8229600" cy="6014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1015808"/>
            <a:ext cx="8229600" cy="42863"/>
          </a:xfrm>
          <a:prstGeom prst="rect">
            <a:avLst/>
          </a:prstGeom>
          <a:solidFill>
            <a:srgbClr val="19324D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57200"/>
            <a:ext cx="764381" cy="43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56000"/>
              </a:lnSpc>
              <a:buNone/>
            </a:pPr>
            <a:r>
              <a:rPr lang="en-US" sz="4750" dirty="0">
                <a:solidFill>
                  <a:srgbClr val="F1E5D5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05</a:t>
            </a:r>
            <a:endParaRPr lang="en-US" sz="4750" dirty="0"/>
          </a:p>
        </p:txBody>
      </p:sp>
      <p:sp>
        <p:nvSpPr>
          <p:cNvPr id="6" name="Text 3"/>
          <p:cNvSpPr/>
          <p:nvPr/>
        </p:nvSpPr>
        <p:spPr>
          <a:xfrm>
            <a:off x="1421606" y="501458"/>
            <a:ext cx="60364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9324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5. DATA VISUALIZATION </a:t>
            </a:r>
            <a:r>
              <a:rPr lang="en-US" sz="2100" b="1" dirty="0">
                <a:solidFill>
                  <a:srgbClr val="8095A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/ SIGNAL ANALYSIS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458075" y="737202"/>
            <a:ext cx="12287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095A7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DESCRIPTIVE RESULTS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1630170"/>
            <a:ext cx="34290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3" dirty="0">
                <a:solidFill>
                  <a:srgbClr val="0FA3B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5.1 FRAUD CONCENTRATION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951639"/>
            <a:ext cx="3429000" cy="2260997"/>
          </a:xfrm>
          <a:prstGeom prst="rect">
            <a:avLst/>
          </a:prstGeom>
          <a:solidFill>
            <a:srgbClr val="FFFFFF"/>
          </a:solidFill>
          <a:ln w="18288">
            <a:solidFill>
              <a:srgbClr val="E9DFC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4298361"/>
            <a:ext cx="34290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095A7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Fraud Rate by Transaction Type (%)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4229100" y="1630170"/>
            <a:ext cx="44577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3" dirty="0">
                <a:solidFill>
                  <a:srgbClr val="0FA3B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5.4 HYPOTHESIS FORMATION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4229100" y="1951639"/>
            <a:ext cx="4457700" cy="750094"/>
          </a:xfrm>
          <a:prstGeom prst="rect">
            <a:avLst/>
          </a:prstGeom>
          <a:solidFill>
            <a:srgbClr val="FFF3F1"/>
          </a:solidFill>
          <a:ln/>
        </p:spPr>
      </p:sp>
      <p:sp>
        <p:nvSpPr>
          <p:cNvPr id="14" name="Shape 10"/>
          <p:cNvSpPr/>
          <p:nvPr/>
        </p:nvSpPr>
        <p:spPr>
          <a:xfrm>
            <a:off x="4229100" y="1951639"/>
            <a:ext cx="42863" cy="750094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5" name="Text 11"/>
          <p:cNvSpPr/>
          <p:nvPr/>
        </p:nvSpPr>
        <p:spPr>
          <a:xfrm>
            <a:off x="4371975" y="2065939"/>
            <a:ext cx="4171950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H1 · Time Risk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371975" y="2276680"/>
            <a:ext cx="417195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5570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Late-night transaction velocity (00:00–07:59) correlates with an elevated fraud probability.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229100" y="2844608"/>
            <a:ext cx="4457700" cy="594717"/>
          </a:xfrm>
          <a:prstGeom prst="rect">
            <a:avLst/>
          </a:prstGeom>
          <a:solidFill>
            <a:srgbClr val="FFF3F1"/>
          </a:solidFill>
          <a:ln/>
        </p:spPr>
      </p:sp>
      <p:sp>
        <p:nvSpPr>
          <p:cNvPr id="18" name="Shape 14"/>
          <p:cNvSpPr/>
          <p:nvPr/>
        </p:nvSpPr>
        <p:spPr>
          <a:xfrm>
            <a:off x="4229100" y="2844608"/>
            <a:ext cx="42863" cy="594717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9" name="Text 15"/>
          <p:cNvSpPr/>
          <p:nvPr/>
        </p:nvSpPr>
        <p:spPr>
          <a:xfrm>
            <a:off x="4371975" y="2958908"/>
            <a:ext cx="4171950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H2 · Type Anchor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371975" y="3169648"/>
            <a:ext cx="41719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5570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Fraud signals are isolated exclusively in Transfer and Cash-Out payment streams.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4229100" y="3582200"/>
            <a:ext cx="4457700" cy="594717"/>
          </a:xfrm>
          <a:prstGeom prst="rect">
            <a:avLst/>
          </a:prstGeom>
          <a:solidFill>
            <a:srgbClr val="FFF3F1"/>
          </a:solidFill>
          <a:ln/>
        </p:spPr>
      </p:sp>
      <p:sp>
        <p:nvSpPr>
          <p:cNvPr id="22" name="Shape 18"/>
          <p:cNvSpPr/>
          <p:nvPr/>
        </p:nvSpPr>
        <p:spPr>
          <a:xfrm>
            <a:off x="4229100" y="3582200"/>
            <a:ext cx="42863" cy="594717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3" name="Text 19"/>
          <p:cNvSpPr/>
          <p:nvPr/>
        </p:nvSpPr>
        <p:spPr>
          <a:xfrm>
            <a:off x="4371975" y="3696500"/>
            <a:ext cx="4171950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H3 · Balance Sweep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4371975" y="3907241"/>
            <a:ext cx="41719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5570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Attempts to fully deplete sender accounts act as a primary behavioral red-flag.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457200" y="4682728"/>
            <a:ext cx="8229600" cy="24645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6" name="Shape 22"/>
          <p:cNvSpPr/>
          <p:nvPr/>
        </p:nvSpPr>
        <p:spPr>
          <a:xfrm>
            <a:off x="457200" y="4682728"/>
            <a:ext cx="8229600" cy="14288"/>
          </a:xfrm>
          <a:prstGeom prst="rect">
            <a:avLst/>
          </a:prstGeom>
          <a:solidFill>
            <a:srgbClr val="E9DFCE"/>
          </a:solidFill>
          <a:ln/>
        </p:spPr>
      </p:sp>
      <p:sp>
        <p:nvSpPr>
          <p:cNvPr id="27" name="Text 23"/>
          <p:cNvSpPr/>
          <p:nvPr/>
        </p:nvSpPr>
        <p:spPr>
          <a:xfrm>
            <a:off x="457200" y="4797028"/>
            <a:ext cx="321468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Analysis confirms that fraud is structured and behavioral, not random.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8383191" y="4797028"/>
            <a:ext cx="30360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/ 13</a:t>
            </a:r>
            <a:endParaRPr lang="en-US" sz="7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65E2132-CE2C-CCD1-EEA9-8F0C80DAE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377" y="2025416"/>
            <a:ext cx="3206524" cy="21458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4338" y="342900"/>
            <a:ext cx="8315325" cy="4857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14338" y="342900"/>
            <a:ext cx="8315325" cy="35719"/>
          </a:xfrm>
          <a:prstGeom prst="rect">
            <a:avLst/>
          </a:prstGeom>
          <a:solidFill>
            <a:srgbClr val="19324D"/>
          </a:solidFill>
          <a:ln/>
        </p:spPr>
      </p:sp>
      <p:sp>
        <p:nvSpPr>
          <p:cNvPr id="5" name="Text 2"/>
          <p:cNvSpPr/>
          <p:nvPr/>
        </p:nvSpPr>
        <p:spPr>
          <a:xfrm>
            <a:off x="414338" y="442913"/>
            <a:ext cx="62865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56000"/>
              </a:lnSpc>
              <a:buNone/>
            </a:pPr>
            <a:r>
              <a:rPr lang="en-US" sz="3850" dirty="0">
                <a:solidFill>
                  <a:srgbClr val="D9E8F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06</a:t>
            </a:r>
            <a:endParaRPr lang="en-US" sz="3850" dirty="0"/>
          </a:p>
        </p:txBody>
      </p:sp>
      <p:sp>
        <p:nvSpPr>
          <p:cNvPr id="6" name="Text 3"/>
          <p:cNvSpPr/>
          <p:nvPr/>
        </p:nvSpPr>
        <p:spPr>
          <a:xfrm>
            <a:off x="3007519" y="442913"/>
            <a:ext cx="3125391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9324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6. MODELING </a:t>
            </a:r>
            <a:r>
              <a:rPr lang="en-US" sz="1550" b="1" dirty="0">
                <a:solidFill>
                  <a:srgbClr val="8095A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/ IDENTIFICATION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097441" y="442913"/>
            <a:ext cx="632222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ROSTER</a:t>
            </a:r>
            <a:endParaRPr lang="en-US" sz="600" dirty="0"/>
          </a:p>
        </p:txBody>
      </p:sp>
      <p:sp>
        <p:nvSpPr>
          <p:cNvPr id="8" name="Shape 5"/>
          <p:cNvSpPr/>
          <p:nvPr/>
        </p:nvSpPr>
        <p:spPr>
          <a:xfrm>
            <a:off x="414338" y="1007269"/>
            <a:ext cx="8315325" cy="20145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14338" y="1007269"/>
            <a:ext cx="8315325" cy="7144"/>
          </a:xfrm>
          <a:prstGeom prst="rect">
            <a:avLst/>
          </a:prstGeom>
          <a:solidFill>
            <a:srgbClr val="C7D8E3"/>
          </a:solidFill>
          <a:ln/>
        </p:spPr>
      </p:sp>
      <p:sp>
        <p:nvSpPr>
          <p:cNvPr id="10" name="Text 7"/>
          <p:cNvSpPr/>
          <p:nvPr/>
        </p:nvSpPr>
        <p:spPr>
          <a:xfrm>
            <a:off x="414338" y="1092994"/>
            <a:ext cx="2078831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kern="0" spc="1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TECHNIQUE</a:t>
            </a:r>
            <a:endParaRPr lang="en-US" sz="500" dirty="0"/>
          </a:p>
        </p:txBody>
      </p:sp>
      <p:sp>
        <p:nvSpPr>
          <p:cNvPr id="11" name="Text 8"/>
          <p:cNvSpPr/>
          <p:nvPr/>
        </p:nvSpPr>
        <p:spPr>
          <a:xfrm>
            <a:off x="2493169" y="1092994"/>
            <a:ext cx="1732304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kern="0" spc="1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ROLE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4225472" y="1092994"/>
            <a:ext cx="3118247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kern="0" spc="1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IT MATTERS</a:t>
            </a:r>
            <a:endParaRPr lang="en-US" sz="500" dirty="0"/>
          </a:p>
        </p:txBody>
      </p:sp>
      <p:sp>
        <p:nvSpPr>
          <p:cNvPr id="13" name="Text 10"/>
          <p:cNvSpPr/>
          <p:nvPr/>
        </p:nvSpPr>
        <p:spPr>
          <a:xfrm>
            <a:off x="7343719" y="1092994"/>
            <a:ext cx="138588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kern="0" spc="1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FAMILY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414338" y="1364456"/>
            <a:ext cx="81081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Logistic Regression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2493169" y="1364456"/>
            <a:ext cx="1732304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1932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Baseline probability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4225472" y="1364456"/>
            <a:ext cx="3118247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1932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Reference point for fraud likelihood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7343719" y="1364456"/>
            <a:ext cx="138588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B8B7B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Supervised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414338" y="1653778"/>
            <a:ext cx="1285875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Decision Tree / Random Forest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2493169" y="1653778"/>
            <a:ext cx="1732304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1932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Rules + ensemble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4225472" y="1653778"/>
            <a:ext cx="3118247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1932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Interpretability and feature importance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7343719" y="1653778"/>
            <a:ext cx="138588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B8B7B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Supervised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14338" y="1943100"/>
            <a:ext cx="1039416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KNN / SVM / Naive Bayes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2493169" y="1943100"/>
            <a:ext cx="1732304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1932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Alternative classifiers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4225472" y="1943100"/>
            <a:ext cx="3118247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1932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Distance, margin, and probabilistic views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343719" y="1943100"/>
            <a:ext cx="138588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B8B7B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Supervised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414338" y="2232422"/>
            <a:ext cx="85367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MLP Neural Network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2493169" y="2232422"/>
            <a:ext cx="1732304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1932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Non-linear learner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4225472" y="2232422"/>
            <a:ext cx="3118247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1932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Tests ReLU, Sigmoid, and Tanh representations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7343719" y="2232422"/>
            <a:ext cx="138588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B8B7B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Supervised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414338" y="2521744"/>
            <a:ext cx="1518047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K-Means / K-Medoids / Hierarchical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2493169" y="2521744"/>
            <a:ext cx="1732304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1932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Risk segmentation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4225472" y="2521744"/>
            <a:ext cx="3118247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1932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Groups users into behavioural clusters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7343719" y="2521744"/>
            <a:ext cx="138588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7655B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Unsupervised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414338" y="2811066"/>
            <a:ext cx="29289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Apriori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2493169" y="2811066"/>
            <a:ext cx="1732304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1932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Pattern mining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4225472" y="2811066"/>
            <a:ext cx="3118247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19324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Finds support-confidence-lift fraud rules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7343719" y="2811066"/>
            <a:ext cx="138588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7655B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Rules</a:t>
            </a:r>
            <a:endParaRPr lang="en-US" sz="600" dirty="0"/>
          </a:p>
        </p:txBody>
      </p:sp>
      <p:sp>
        <p:nvSpPr>
          <p:cNvPr id="38" name="Shape 35"/>
          <p:cNvSpPr/>
          <p:nvPr/>
        </p:nvSpPr>
        <p:spPr>
          <a:xfrm>
            <a:off x="414338" y="3200400"/>
            <a:ext cx="2705081" cy="503634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39" name="Shape 36"/>
          <p:cNvSpPr/>
          <p:nvPr/>
        </p:nvSpPr>
        <p:spPr>
          <a:xfrm>
            <a:off x="414338" y="3200400"/>
            <a:ext cx="2705081" cy="21431"/>
          </a:xfrm>
          <a:prstGeom prst="rect">
            <a:avLst/>
          </a:prstGeom>
          <a:solidFill>
            <a:srgbClr val="B7A0E8"/>
          </a:solidFill>
          <a:ln/>
        </p:spPr>
      </p:sp>
      <p:sp>
        <p:nvSpPr>
          <p:cNvPr id="40" name="Text 37"/>
          <p:cNvSpPr/>
          <p:nvPr/>
        </p:nvSpPr>
        <p:spPr>
          <a:xfrm>
            <a:off x="514350" y="3321844"/>
            <a:ext cx="6429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Selection lens</a:t>
            </a:r>
            <a:endParaRPr lang="en-US" sz="650" dirty="0"/>
          </a:p>
        </p:txBody>
      </p:sp>
      <p:sp>
        <p:nvSpPr>
          <p:cNvPr id="41" name="Text 38"/>
          <p:cNvSpPr/>
          <p:nvPr/>
        </p:nvSpPr>
        <p:spPr>
          <a:xfrm>
            <a:off x="514350" y="3479006"/>
            <a:ext cx="2505056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recall with acceptable precision—not accuracy theatre.</a:t>
            </a:r>
            <a:endParaRPr lang="en-US" sz="550" dirty="0"/>
          </a:p>
        </p:txBody>
      </p:sp>
      <p:sp>
        <p:nvSpPr>
          <p:cNvPr id="42" name="Shape 39"/>
          <p:cNvSpPr/>
          <p:nvPr/>
        </p:nvSpPr>
        <p:spPr>
          <a:xfrm>
            <a:off x="3219431" y="3200400"/>
            <a:ext cx="2705081" cy="503634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43" name="Shape 40"/>
          <p:cNvSpPr/>
          <p:nvPr/>
        </p:nvSpPr>
        <p:spPr>
          <a:xfrm>
            <a:off x="3219431" y="3200400"/>
            <a:ext cx="2705081" cy="21431"/>
          </a:xfrm>
          <a:prstGeom prst="rect">
            <a:avLst/>
          </a:prstGeom>
          <a:solidFill>
            <a:srgbClr val="B7A0E8"/>
          </a:solidFill>
          <a:ln/>
        </p:spPr>
      </p:sp>
      <p:sp>
        <p:nvSpPr>
          <p:cNvPr id="44" name="Text 41"/>
          <p:cNvSpPr/>
          <p:nvPr/>
        </p:nvSpPr>
        <p:spPr>
          <a:xfrm>
            <a:off x="3319444" y="3321844"/>
            <a:ext cx="6822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Evaluation lens</a:t>
            </a:r>
            <a:endParaRPr lang="en-US" sz="650" dirty="0"/>
          </a:p>
        </p:txBody>
      </p:sp>
      <p:sp>
        <p:nvSpPr>
          <p:cNvPr id="45" name="Text 42"/>
          <p:cNvSpPr/>
          <p:nvPr/>
        </p:nvSpPr>
        <p:spPr>
          <a:xfrm>
            <a:off x="3319444" y="3479006"/>
            <a:ext cx="2505056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Precision, Recall, F1-score, PR-AUC, confusion matrix.</a:t>
            </a:r>
            <a:endParaRPr lang="en-US" sz="550" dirty="0"/>
          </a:p>
        </p:txBody>
      </p:sp>
      <p:sp>
        <p:nvSpPr>
          <p:cNvPr id="46" name="Shape 43"/>
          <p:cNvSpPr/>
          <p:nvPr/>
        </p:nvSpPr>
        <p:spPr>
          <a:xfrm>
            <a:off x="6024525" y="3200400"/>
            <a:ext cx="2705081" cy="503634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47" name="Shape 44"/>
          <p:cNvSpPr/>
          <p:nvPr/>
        </p:nvSpPr>
        <p:spPr>
          <a:xfrm>
            <a:off x="6024525" y="3200400"/>
            <a:ext cx="2705081" cy="21431"/>
          </a:xfrm>
          <a:prstGeom prst="rect">
            <a:avLst/>
          </a:prstGeom>
          <a:solidFill>
            <a:srgbClr val="B7A0E8"/>
          </a:solidFill>
          <a:ln/>
        </p:spPr>
      </p:sp>
      <p:sp>
        <p:nvSpPr>
          <p:cNvPr id="48" name="Text 45"/>
          <p:cNvSpPr/>
          <p:nvPr/>
        </p:nvSpPr>
        <p:spPr>
          <a:xfrm>
            <a:off x="6124538" y="3321844"/>
            <a:ext cx="6572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Reliability lens</a:t>
            </a:r>
            <a:endParaRPr lang="en-US" sz="650" dirty="0"/>
          </a:p>
        </p:txBody>
      </p:sp>
      <p:sp>
        <p:nvSpPr>
          <p:cNvPr id="49" name="Text 46"/>
          <p:cNvSpPr/>
          <p:nvPr/>
        </p:nvSpPr>
        <p:spPr>
          <a:xfrm>
            <a:off x="6124538" y="3479006"/>
            <a:ext cx="2505056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Stratified 5-fold CV plus bootstrap confidence intervals.</a:t>
            </a:r>
            <a:endParaRPr lang="en-US" sz="550" dirty="0"/>
          </a:p>
        </p:txBody>
      </p:sp>
      <p:sp>
        <p:nvSpPr>
          <p:cNvPr id="50" name="Shape 47"/>
          <p:cNvSpPr/>
          <p:nvPr/>
        </p:nvSpPr>
        <p:spPr>
          <a:xfrm>
            <a:off x="414338" y="4843463"/>
            <a:ext cx="8315325" cy="1571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414338" y="4843463"/>
            <a:ext cx="8315325" cy="7144"/>
          </a:xfrm>
          <a:prstGeom prst="rect">
            <a:avLst/>
          </a:prstGeom>
          <a:solidFill>
            <a:srgbClr val="D9E3EA"/>
          </a:solidFill>
          <a:ln/>
        </p:spPr>
      </p:sp>
      <p:sp>
        <p:nvSpPr>
          <p:cNvPr id="52" name="Text 49"/>
          <p:cNvSpPr/>
          <p:nvPr/>
        </p:nvSpPr>
        <p:spPr>
          <a:xfrm>
            <a:off x="414338" y="4907756"/>
            <a:ext cx="245030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roster and purpose adapted from Section 6.1 of the documentation.</a:t>
            </a:r>
            <a:endParaRPr lang="en-US" sz="500" dirty="0"/>
          </a:p>
        </p:txBody>
      </p:sp>
      <p:sp>
        <p:nvSpPr>
          <p:cNvPr id="53" name="Text 50"/>
          <p:cNvSpPr/>
          <p:nvPr/>
        </p:nvSpPr>
        <p:spPr>
          <a:xfrm>
            <a:off x="8508206" y="4907756"/>
            <a:ext cx="221456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 / 12</a:t>
            </a:r>
            <a:endParaRPr lang="en-US" sz="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5572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942975"/>
            <a:ext cx="8286750" cy="42863"/>
          </a:xfrm>
          <a:prstGeom prst="rect">
            <a:avLst/>
          </a:prstGeom>
          <a:solidFill>
            <a:srgbClr val="19324D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721519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56000"/>
              </a:lnSpc>
              <a:buNone/>
            </a:pPr>
            <a:r>
              <a:rPr lang="en-US" sz="4400" dirty="0">
                <a:solidFill>
                  <a:srgbClr val="DDEAF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06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321594" y="482203"/>
            <a:ext cx="6015038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9324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6. MODELING </a:t>
            </a:r>
            <a:r>
              <a:rPr lang="en-US" sz="1900" b="1" dirty="0">
                <a:solidFill>
                  <a:srgbClr val="8095A7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/ IMPLEMENTATION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336631" y="678656"/>
            <a:ext cx="137874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095A7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PIPELINE ARCHITECTURE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28625" y="1335881"/>
            <a:ext cx="1588759" cy="1143000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1335881"/>
            <a:ext cx="1588759" cy="35719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0" name="Text 7"/>
          <p:cNvSpPr/>
          <p:nvPr/>
        </p:nvSpPr>
        <p:spPr>
          <a:xfrm>
            <a:off x="542925" y="1507331"/>
            <a:ext cx="13601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 · Load + Split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42925" y="1728788"/>
            <a:ext cx="1360159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PaySim processing; stratified 80:20 training/test sets.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2103109" y="1335881"/>
            <a:ext cx="1588759" cy="1143000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13" name="Shape 10"/>
          <p:cNvSpPr/>
          <p:nvPr/>
        </p:nvSpPr>
        <p:spPr>
          <a:xfrm>
            <a:off x="2103109" y="1335881"/>
            <a:ext cx="1588759" cy="35719"/>
          </a:xfrm>
          <a:prstGeom prst="rect">
            <a:avLst/>
          </a:prstGeom>
          <a:solidFill>
            <a:srgbClr val="B7A0E8"/>
          </a:solidFill>
          <a:ln/>
        </p:spPr>
      </p:sp>
      <p:sp>
        <p:nvSpPr>
          <p:cNvPr id="14" name="Text 11"/>
          <p:cNvSpPr/>
          <p:nvPr/>
        </p:nvSpPr>
        <p:spPr>
          <a:xfrm>
            <a:off x="2217409" y="1507331"/>
            <a:ext cx="13601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 · Prep + Scale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217409" y="1728788"/>
            <a:ext cx="1360159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SMOTE, class weights, and behavioral engineering.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3777593" y="1335881"/>
            <a:ext cx="1588759" cy="1143000"/>
          </a:xfrm>
          <a:prstGeom prst="rect">
            <a:avLst/>
          </a:prstGeom>
          <a:solidFill>
            <a:srgbClr val="EAF6F5"/>
          </a:solidFill>
          <a:ln/>
        </p:spPr>
      </p:sp>
      <p:sp>
        <p:nvSpPr>
          <p:cNvPr id="17" name="Shape 14"/>
          <p:cNvSpPr/>
          <p:nvPr/>
        </p:nvSpPr>
        <p:spPr>
          <a:xfrm>
            <a:off x="3777593" y="1335881"/>
            <a:ext cx="1588759" cy="35719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8" name="Text 15"/>
          <p:cNvSpPr/>
          <p:nvPr/>
        </p:nvSpPr>
        <p:spPr>
          <a:xfrm>
            <a:off x="3891893" y="1507331"/>
            <a:ext cx="13601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3 · Cross-Val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891893" y="1728788"/>
            <a:ext cx="1360159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5-fold stratified CV with bootstrap confidence intervals.</a:t>
            </a:r>
            <a:endParaRPr lang="en-US" sz="600" dirty="0"/>
          </a:p>
        </p:txBody>
      </p:sp>
      <p:sp>
        <p:nvSpPr>
          <p:cNvPr id="20" name="Shape 17"/>
          <p:cNvSpPr/>
          <p:nvPr/>
        </p:nvSpPr>
        <p:spPr>
          <a:xfrm>
            <a:off x="5452077" y="1335881"/>
            <a:ext cx="1588759" cy="1143000"/>
          </a:xfrm>
          <a:prstGeom prst="rect">
            <a:avLst/>
          </a:prstGeom>
          <a:solidFill>
            <a:srgbClr val="F5F0FF"/>
          </a:solidFill>
          <a:ln/>
        </p:spPr>
      </p:sp>
      <p:sp>
        <p:nvSpPr>
          <p:cNvPr id="21" name="Shape 18"/>
          <p:cNvSpPr/>
          <p:nvPr/>
        </p:nvSpPr>
        <p:spPr>
          <a:xfrm>
            <a:off x="5452077" y="1335881"/>
            <a:ext cx="1588759" cy="35719"/>
          </a:xfrm>
          <a:prstGeom prst="rect">
            <a:avLst/>
          </a:prstGeom>
          <a:solidFill>
            <a:srgbClr val="B7A0E8"/>
          </a:solidFill>
          <a:ln/>
        </p:spPr>
      </p:sp>
      <p:sp>
        <p:nvSpPr>
          <p:cNvPr id="22" name="Text 19"/>
          <p:cNvSpPr/>
          <p:nvPr/>
        </p:nvSpPr>
        <p:spPr>
          <a:xfrm>
            <a:off x="5566377" y="1507331"/>
            <a:ext cx="13601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4 · Cluster + Rules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566377" y="1728788"/>
            <a:ext cx="1360159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K-Means segmentation and Apriori pattern mining.</a:t>
            </a:r>
            <a:endParaRPr lang="en-US" sz="600" dirty="0"/>
          </a:p>
        </p:txBody>
      </p:sp>
      <p:sp>
        <p:nvSpPr>
          <p:cNvPr id="24" name="Shape 21"/>
          <p:cNvSpPr/>
          <p:nvPr/>
        </p:nvSpPr>
        <p:spPr>
          <a:xfrm>
            <a:off x="7126560" y="1335881"/>
            <a:ext cx="1588759" cy="1143000"/>
          </a:xfrm>
          <a:prstGeom prst="rect">
            <a:avLst/>
          </a:prstGeom>
          <a:solidFill>
            <a:srgbClr val="FFF4F2"/>
          </a:solidFill>
          <a:ln/>
        </p:spPr>
      </p:sp>
      <p:sp>
        <p:nvSpPr>
          <p:cNvPr id="25" name="Shape 22"/>
          <p:cNvSpPr/>
          <p:nvPr/>
        </p:nvSpPr>
        <p:spPr>
          <a:xfrm>
            <a:off x="7126560" y="1335881"/>
            <a:ext cx="1588759" cy="35719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26" name="Text 23"/>
          <p:cNvSpPr/>
          <p:nvPr/>
        </p:nvSpPr>
        <p:spPr>
          <a:xfrm>
            <a:off x="7240860" y="1507331"/>
            <a:ext cx="136015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5 · Deployment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240860" y="1728788"/>
            <a:ext cx="1360159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0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Pickled model served via an interactive Streamlit UI.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428625" y="3093244"/>
            <a:ext cx="4364162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FA3B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DECISION OUTPUT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428625" y="3325416"/>
            <a:ext cx="436416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System generates a </a:t>
            </a:r>
            <a:r>
              <a:rPr lang="en-US" sz="1000" b="1" dirty="0">
                <a:solidFill>
                  <a:srgbClr val="63798C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fraud probability</a:t>
            </a:r>
            <a:r>
              <a:rPr lang="en-US" sz="105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 categorized </a:t>
            </a:r>
            <a:r>
              <a:rPr lang="en-US" sz="1000" b="1" dirty="0">
                <a:solidFill>
                  <a:srgbClr val="63798C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risk level</a:t>
            </a:r>
            <a:r>
              <a:rPr lang="en-US" sz="105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clear </a:t>
            </a:r>
            <a:r>
              <a:rPr lang="en-US" sz="1000" b="1" dirty="0">
                <a:solidFill>
                  <a:srgbClr val="63798C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top reasons</a:t>
            </a:r>
            <a:r>
              <a:rPr lang="en-US" sz="105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analyst review.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28625" y="3868341"/>
            <a:ext cx="4364162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9324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Explainable Prediction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078537" y="3093244"/>
            <a:ext cx="3636838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FA3B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CORE IMPLEMENTATION STRENGTH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078537" y="3325416"/>
            <a:ext cx="363683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Combines supervised accuracy with unsupervised behavioral grouping for a 360° risk view.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5078537" y="3868341"/>
            <a:ext cx="363683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9324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Integrated Defense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428625" y="4718447"/>
            <a:ext cx="8286750" cy="2107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28625" y="4718447"/>
            <a:ext cx="8286750" cy="14288"/>
          </a:xfrm>
          <a:prstGeom prst="rect">
            <a:avLst/>
          </a:prstGeom>
          <a:solidFill>
            <a:srgbClr val="DDE6ED"/>
          </a:solidFill>
          <a:ln/>
        </p:spPr>
      </p:sp>
      <p:sp>
        <p:nvSpPr>
          <p:cNvPr id="36" name="Text 33"/>
          <p:cNvSpPr/>
          <p:nvPr/>
        </p:nvSpPr>
        <p:spPr>
          <a:xfrm>
            <a:off x="428625" y="4818459"/>
            <a:ext cx="2471738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Reconstructed from Section 6.2 of the project documentation.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8454628" y="4818459"/>
            <a:ext cx="260747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 / 12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57175" y="257175"/>
            <a:ext cx="8629650" cy="45061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57175" y="672071"/>
            <a:ext cx="8629650" cy="35719"/>
          </a:xfrm>
          <a:prstGeom prst="rect">
            <a:avLst/>
          </a:prstGeom>
          <a:solidFill>
            <a:srgbClr val="19324D"/>
          </a:solidFill>
          <a:ln/>
        </p:spPr>
      </p:sp>
      <p:sp>
        <p:nvSpPr>
          <p:cNvPr id="5" name="Text 2"/>
          <p:cNvSpPr/>
          <p:nvPr/>
        </p:nvSpPr>
        <p:spPr>
          <a:xfrm>
            <a:off x="257175" y="257175"/>
            <a:ext cx="542925" cy="3291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57600"/>
              </a:lnSpc>
              <a:buNone/>
            </a:pPr>
            <a:r>
              <a:rPr lang="en-US" sz="3500" dirty="0">
                <a:solidFill>
                  <a:srgbClr val="DDEAF3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07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617934" y="257175"/>
            <a:ext cx="7311628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324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7. DISCUSSION AND CONCLUSION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3863" y="400050"/>
            <a:ext cx="8429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095A7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FINAL VERDICT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57175" y="892969"/>
            <a:ext cx="4732232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0FA3B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DISCUSSION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257175" y="1153716"/>
            <a:ext cx="4732232" cy="614139"/>
          </a:xfrm>
          <a:prstGeom prst="rect">
            <a:avLst/>
          </a:prstGeom>
          <a:solidFill>
            <a:srgbClr val="F3FAFA"/>
          </a:solidFill>
          <a:ln/>
        </p:spPr>
      </p:sp>
      <p:sp>
        <p:nvSpPr>
          <p:cNvPr id="10" name="Shape 7"/>
          <p:cNvSpPr/>
          <p:nvPr/>
        </p:nvSpPr>
        <p:spPr>
          <a:xfrm>
            <a:off x="257175" y="1153716"/>
            <a:ext cx="42863" cy="614139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1" name="Text 8"/>
          <p:cNvSpPr/>
          <p:nvPr/>
        </p:nvSpPr>
        <p:spPr>
          <a:xfrm>
            <a:off x="400050" y="1268016"/>
            <a:ext cx="4446482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Pattern Density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00050" y="1493044"/>
            <a:ext cx="4446482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Fraud is heavily clustered in specific transaction flows, making isolation possible.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7175" y="1896442"/>
            <a:ext cx="4732232" cy="614139"/>
          </a:xfrm>
          <a:prstGeom prst="rect">
            <a:avLst/>
          </a:prstGeom>
          <a:solidFill>
            <a:srgbClr val="F3FAFA"/>
          </a:solidFill>
          <a:ln/>
        </p:spPr>
      </p:sp>
      <p:sp>
        <p:nvSpPr>
          <p:cNvPr id="14" name="Shape 11"/>
          <p:cNvSpPr/>
          <p:nvPr/>
        </p:nvSpPr>
        <p:spPr>
          <a:xfrm>
            <a:off x="257175" y="1896442"/>
            <a:ext cx="42863" cy="614139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5" name="Text 12"/>
          <p:cNvSpPr/>
          <p:nvPr/>
        </p:nvSpPr>
        <p:spPr>
          <a:xfrm>
            <a:off x="400050" y="2010742"/>
            <a:ext cx="4446482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Temporal Windows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00050" y="2235771"/>
            <a:ext cx="4446482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night-time flag acts as a critical risk multiplier in the final model.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57175" y="2639169"/>
            <a:ext cx="4732232" cy="614139"/>
          </a:xfrm>
          <a:prstGeom prst="rect">
            <a:avLst/>
          </a:prstGeom>
          <a:solidFill>
            <a:srgbClr val="F3FAFA"/>
          </a:solidFill>
          <a:ln/>
        </p:spPr>
      </p:sp>
      <p:sp>
        <p:nvSpPr>
          <p:cNvPr id="18" name="Shape 15"/>
          <p:cNvSpPr/>
          <p:nvPr/>
        </p:nvSpPr>
        <p:spPr>
          <a:xfrm>
            <a:off x="257175" y="2639169"/>
            <a:ext cx="42863" cy="614139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9" name="Text 16"/>
          <p:cNvSpPr/>
          <p:nvPr/>
        </p:nvSpPr>
        <p:spPr>
          <a:xfrm>
            <a:off x="400050" y="2753469"/>
            <a:ext cx="4446482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Rule Interpretability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00050" y="2978497"/>
            <a:ext cx="4446482" cy="160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Mining rules ensures that decisions are not just accurate, but also explainable.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246582" y="892969"/>
            <a:ext cx="3640187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2" dirty="0">
                <a:solidFill>
                  <a:srgbClr val="E45858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CONCLUSION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5246582" y="1153716"/>
            <a:ext cx="3640187" cy="1655564"/>
          </a:xfrm>
          <a:prstGeom prst="rect">
            <a:avLst/>
          </a:prstGeom>
          <a:solidFill>
            <a:srgbClr val="FFF9EC"/>
          </a:solidFill>
          <a:ln/>
        </p:spPr>
      </p:sp>
      <p:sp>
        <p:nvSpPr>
          <p:cNvPr id="23" name="Shape 20"/>
          <p:cNvSpPr/>
          <p:nvPr/>
        </p:nvSpPr>
        <p:spPr>
          <a:xfrm>
            <a:off x="5246582" y="1153716"/>
            <a:ext cx="3640187" cy="42863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24" name="Text 21"/>
          <p:cNvSpPr/>
          <p:nvPr/>
        </p:nvSpPr>
        <p:spPr>
          <a:xfrm>
            <a:off x="5403745" y="1310878"/>
            <a:ext cx="3325862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324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System Validation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403745" y="1650206"/>
            <a:ext cx="3325862" cy="530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5F647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project proves that imbalance-aware ML pipelines can effectively safeguard digital payments by merging prediction with behavioral discovery.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403745" y="2280642"/>
            <a:ext cx="3325862" cy="32861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i="1" dirty="0">
                <a:solidFill>
                  <a:srgbClr val="8095A7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Boundary:</a:t>
            </a:r>
            <a:r>
              <a:rPr lang="en-US" sz="650" i="1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system should be retrained on live NPCI feeds before production scale-up.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257175" y="4811316"/>
            <a:ext cx="8629650" cy="18930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257175" y="4811316"/>
            <a:ext cx="8629650" cy="14288"/>
          </a:xfrm>
          <a:prstGeom prst="rect">
            <a:avLst/>
          </a:prstGeom>
          <a:solidFill>
            <a:srgbClr val="DDE6ED"/>
          </a:solidFill>
          <a:ln/>
        </p:spPr>
      </p:sp>
      <p:sp>
        <p:nvSpPr>
          <p:cNvPr id="29" name="Text 26"/>
          <p:cNvSpPr/>
          <p:nvPr/>
        </p:nvSpPr>
        <p:spPr>
          <a:xfrm>
            <a:off x="257175" y="4897041"/>
            <a:ext cx="1835944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Conclusion distilled from project report Section 7.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8661797" y="4897041"/>
            <a:ext cx="22502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5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/ 12</a:t>
            </a:r>
            <a:endParaRPr lang="en-US" sz="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4338" y="371475"/>
            <a:ext cx="8315325" cy="50006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14338" y="371475"/>
            <a:ext cx="8315325" cy="35719"/>
          </a:xfrm>
          <a:prstGeom prst="rect">
            <a:avLst/>
          </a:prstGeom>
          <a:solidFill>
            <a:srgbClr val="19324D"/>
          </a:solidFill>
          <a:ln/>
        </p:spPr>
      </p:sp>
      <p:sp>
        <p:nvSpPr>
          <p:cNvPr id="5" name="Text 2"/>
          <p:cNvSpPr/>
          <p:nvPr/>
        </p:nvSpPr>
        <p:spPr>
          <a:xfrm>
            <a:off x="414338" y="485775"/>
            <a:ext cx="62507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56000"/>
              </a:lnSpc>
              <a:buNone/>
            </a:pPr>
            <a:r>
              <a:rPr lang="en-US" sz="3850" dirty="0">
                <a:solidFill>
                  <a:srgbClr val="D9E8F0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08</a:t>
            </a:r>
            <a:endParaRPr lang="en-US" sz="3850" dirty="0"/>
          </a:p>
        </p:txBody>
      </p:sp>
      <p:sp>
        <p:nvSpPr>
          <p:cNvPr id="6" name="Text 3"/>
          <p:cNvSpPr/>
          <p:nvPr/>
        </p:nvSpPr>
        <p:spPr>
          <a:xfrm>
            <a:off x="3427214" y="485775"/>
            <a:ext cx="2271713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9324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8. FUTURE DIRECTION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86725" y="485775"/>
            <a:ext cx="64293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 ITERATION</a:t>
            </a:r>
            <a:endParaRPr lang="en-US" sz="600" dirty="0"/>
          </a:p>
        </p:txBody>
      </p:sp>
      <p:sp>
        <p:nvSpPr>
          <p:cNvPr id="8" name="Shape 5"/>
          <p:cNvSpPr/>
          <p:nvPr/>
        </p:nvSpPr>
        <p:spPr>
          <a:xfrm>
            <a:off x="414338" y="1500188"/>
            <a:ext cx="8315325" cy="14288"/>
          </a:xfrm>
          <a:prstGeom prst="rect">
            <a:avLst/>
          </a:prstGeom>
          <a:solidFill>
            <a:srgbClr val="C7D8E3"/>
          </a:solidFill>
          <a:ln/>
        </p:spPr>
      </p:sp>
      <p:sp>
        <p:nvSpPr>
          <p:cNvPr id="9" name="Text 6"/>
          <p:cNvSpPr/>
          <p:nvPr/>
        </p:nvSpPr>
        <p:spPr>
          <a:xfrm>
            <a:off x="414338" y="1707356"/>
            <a:ext cx="2657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9324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 · Real data validation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14338" y="1950244"/>
            <a:ext cx="265747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5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Move from PaySim to controlled bank/NPCI transaction data and re-check calibration, fairness, and drift.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3243263" y="1707356"/>
            <a:ext cx="2657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9324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 · Streaming detection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243263" y="1950244"/>
            <a:ext cx="265747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5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Introduce Kafka or a similar event layer so risk scores can be generated continuously instead of batch-only.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6072188" y="1707356"/>
            <a:ext cx="26574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9324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 · Deeper intelligence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072188" y="1950244"/>
            <a:ext cx="2657475" cy="403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650" dirty="0">
                <a:solidFill>
                  <a:srgbClr val="63798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LSTM/autoencoders for sequences, graph analysis for fraud rings, SHAP/LIME explanations, and alert-to-OTP workflows.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414338" y="2739851"/>
            <a:ext cx="5857875" cy="5500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14338" y="2739851"/>
            <a:ext cx="5857875" cy="7144"/>
          </a:xfrm>
          <a:prstGeom prst="rect">
            <a:avLst/>
          </a:prstGeom>
          <a:solidFill>
            <a:srgbClr val="C7D8E3"/>
          </a:solidFill>
          <a:ln/>
        </p:spPr>
      </p:sp>
      <p:sp>
        <p:nvSpPr>
          <p:cNvPr id="17" name="Text 14"/>
          <p:cNvSpPr/>
          <p:nvPr/>
        </p:nvSpPr>
        <p:spPr>
          <a:xfrm>
            <a:off x="414338" y="2739851"/>
            <a:ext cx="5857875" cy="55006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6647D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A stronger fraud radar will not only predict the next risky transaction—it will learn how the network around that transaction behaves.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4338" y="4822031"/>
            <a:ext cx="8315325" cy="1643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414338" y="4822031"/>
            <a:ext cx="8315325" cy="7144"/>
          </a:xfrm>
          <a:prstGeom prst="rect">
            <a:avLst/>
          </a:prstGeom>
          <a:solidFill>
            <a:srgbClr val="D9E3EA"/>
          </a:solidFill>
          <a:ln/>
        </p:spPr>
      </p:sp>
      <p:sp>
        <p:nvSpPr>
          <p:cNvPr id="20" name="Text 17"/>
          <p:cNvSpPr/>
          <p:nvPr/>
        </p:nvSpPr>
        <p:spPr>
          <a:xfrm>
            <a:off x="414338" y="4893469"/>
            <a:ext cx="2135981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Roadmap distilled from the attached documentation’s Section 8.</a:t>
            </a:r>
            <a:endParaRPr lang="en-US" sz="500" dirty="0"/>
          </a:p>
        </p:txBody>
      </p:sp>
      <p:sp>
        <p:nvSpPr>
          <p:cNvPr id="21" name="Text 18"/>
          <p:cNvSpPr/>
          <p:nvPr/>
        </p:nvSpPr>
        <p:spPr>
          <a:xfrm>
            <a:off x="8558213" y="4893469"/>
            <a:ext cx="171450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/ 12</a:t>
            </a:r>
            <a:endParaRPr lang="en-US" sz="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457200"/>
            <a:ext cx="8229600" cy="6014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1015808"/>
            <a:ext cx="8229600" cy="42863"/>
          </a:xfrm>
          <a:prstGeom prst="rect">
            <a:avLst/>
          </a:prstGeom>
          <a:solidFill>
            <a:srgbClr val="19324D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57200"/>
            <a:ext cx="775097" cy="430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56000"/>
              </a:lnSpc>
              <a:buNone/>
            </a:pPr>
            <a:r>
              <a:rPr lang="en-US" sz="4750" dirty="0">
                <a:solidFill>
                  <a:srgbClr val="F1E5D5"/>
                </a:solidFill>
                <a:latin typeface="Space Grotesk SemiBold" pitchFamily="34" charset="0"/>
                <a:ea typeface="Space Grotesk SemiBold" pitchFamily="34" charset="-122"/>
                <a:cs typeface="Space Grotesk SemiBold" pitchFamily="34" charset="-120"/>
              </a:rPr>
              <a:t>09</a:t>
            </a:r>
            <a:endParaRPr lang="en-US" sz="4750" dirty="0"/>
          </a:p>
        </p:txBody>
      </p:sp>
      <p:sp>
        <p:nvSpPr>
          <p:cNvPr id="6" name="Text 3"/>
          <p:cNvSpPr/>
          <p:nvPr/>
        </p:nvSpPr>
        <p:spPr>
          <a:xfrm>
            <a:off x="1432322" y="501458"/>
            <a:ext cx="654010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9324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9. BIBLIOGRAPHY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7972425" y="737202"/>
            <a:ext cx="71437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095A7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REFERENCES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1444433"/>
            <a:ext cx="390048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Lopez-Rojas, E., et al. (2016)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665889"/>
            <a:ext cx="378261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70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“PaySim: A financial mobile money simulator for fraud detection.” 28th EMSS.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786313" y="1444433"/>
            <a:ext cx="390048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PaySim Financial Dataset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786313" y="1665889"/>
            <a:ext cx="248959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70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Synthetic UPI-analogue logs via Kaggle Repository.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57200" y="2301683"/>
            <a:ext cx="390048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Pedregosa, F., et al. (2011)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2523139"/>
            <a:ext cx="23860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70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“Scikit-learn: Machine Learning in Python.” JMLR.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786313" y="2301683"/>
            <a:ext cx="390048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Chawla, N. V., et al. (2002)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786313" y="2523139"/>
            <a:ext cx="29718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70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“SMOTE: Synthetic Minority Over-sampling Technique.” JAIR.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7200" y="3158933"/>
            <a:ext cx="390048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Breiman, L. (2001)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3380389"/>
            <a:ext cx="209669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70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“Random Forests.” Machine Learning, 45(1).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786313" y="3158933"/>
            <a:ext cx="390048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9324D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mlxtend Library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786313" y="3380389"/>
            <a:ext cx="286107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00" dirty="0">
                <a:solidFill>
                  <a:srgbClr val="55708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Open-source toolset for Association Rule Mining (Apriori).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4682728"/>
            <a:ext cx="8229600" cy="24645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57200" y="4682728"/>
            <a:ext cx="8229600" cy="14288"/>
          </a:xfrm>
          <a:prstGeom prst="rect">
            <a:avLst/>
          </a:prstGeom>
          <a:solidFill>
            <a:srgbClr val="E9DFCE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797028"/>
            <a:ext cx="313253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All sources verified against the project documentation bibliography.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8415338" y="4797028"/>
            <a:ext cx="27146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095A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/ 13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37297" y="1104100"/>
            <a:ext cx="166940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kern="0" spc="4" dirty="0">
                <a:solidFill>
                  <a:srgbClr val="0FA3B1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PROJECT COMPLETE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3594702" y="1396994"/>
            <a:ext cx="1954541" cy="1117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68000"/>
              </a:lnSpc>
              <a:buNone/>
            </a:pPr>
            <a:r>
              <a:rPr lang="en-US" sz="4750" b="1" kern="0" spc="-3" dirty="0">
                <a:solidFill>
                  <a:srgbClr val="FDF8E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THANK
</a:t>
            </a:r>
            <a:r>
              <a:rPr lang="en-US" sz="4750" b="1" kern="0" spc="-3" dirty="0">
                <a:solidFill>
                  <a:srgbClr val="0FA3B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YOU.</a:t>
            </a:r>
            <a:endParaRPr lang="en-US" sz="4750" dirty="0"/>
          </a:p>
        </p:txBody>
      </p:sp>
      <p:sp>
        <p:nvSpPr>
          <p:cNvPr id="5" name="Shape 2"/>
          <p:cNvSpPr/>
          <p:nvPr/>
        </p:nvSpPr>
        <p:spPr>
          <a:xfrm>
            <a:off x="2250281" y="2771384"/>
            <a:ext cx="4643438" cy="889397"/>
          </a:xfrm>
          <a:prstGeom prst="rect">
            <a:avLst/>
          </a:prstGeom>
          <a:solidFill>
            <a:srgbClr val="19324D">
              <a:alpha val="40000"/>
            </a:srgbClr>
          </a:solidFill>
          <a:ln w="18288">
            <a:solidFill>
              <a:srgbClr val="0FA3B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57463" y="2992841"/>
            <a:ext cx="4029075" cy="123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800" b="1" kern="0" spc="1" dirty="0">
                <a:solidFill>
                  <a:srgbClr val="7890A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| PROJECT TEAM |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557463" y="3271447"/>
            <a:ext cx="122872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DF8EE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Jiya Chhatbar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957638" y="3271447"/>
            <a:ext cx="122872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DF8EE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Darshana Rangoliya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57813" y="3271447"/>
            <a:ext cx="122872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DF8EE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Faiz Badi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113224" y="3896525"/>
            <a:ext cx="291755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650" b="1" kern="0" spc="1" dirty="0">
                <a:solidFill>
                  <a:srgbClr val="7890A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L.J. SCHOOL OF COMPUTER APPLICATION · SEMESTER 7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8540353" y="4879181"/>
            <a:ext cx="26074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7890A6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13 / 13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1401</Words>
  <Application>Microsoft Office PowerPoint</Application>
  <PresentationFormat>On-screen Show (16:9)</PresentationFormat>
  <Paragraphs>269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DM Sans</vt:lpstr>
      <vt:lpstr>DM Sans Bold</vt:lpstr>
      <vt:lpstr>Space Grotesk Bold</vt:lpstr>
      <vt:lpstr>Space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Faiz Badi</cp:lastModifiedBy>
  <cp:revision>3</cp:revision>
  <dcterms:created xsi:type="dcterms:W3CDTF">2026-10-26T17:06:51Z</dcterms:created>
  <dcterms:modified xsi:type="dcterms:W3CDTF">2026-10-26T17:45:34Z</dcterms:modified>
</cp:coreProperties>
</file>